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9" r:id="rId2"/>
    <p:sldId id="257" r:id="rId3"/>
    <p:sldId id="258" r:id="rId4"/>
    <p:sldId id="260" r:id="rId5"/>
    <p:sldId id="261" r:id="rId6"/>
    <p:sldId id="262" r:id="rId7"/>
    <p:sldId id="282" r:id="rId8"/>
    <p:sldId id="263" r:id="rId9"/>
    <p:sldId id="265" r:id="rId10"/>
    <p:sldId id="278" r:id="rId11"/>
    <p:sldId id="283" r:id="rId12"/>
    <p:sldId id="268" r:id="rId13"/>
    <p:sldId id="269" r:id="rId14"/>
    <p:sldId id="271" r:id="rId15"/>
    <p:sldId id="272" r:id="rId16"/>
    <p:sldId id="273" r:id="rId17"/>
    <p:sldId id="274" r:id="rId18"/>
    <p:sldId id="275" r:id="rId19"/>
    <p:sldId id="276" r:id="rId20"/>
    <p:sldId id="277" r:id="rId21"/>
    <p:sldId id="279"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82" autoAdjust="0"/>
    <p:restoredTop sz="94660"/>
  </p:normalViewPr>
  <p:slideViewPr>
    <p:cSldViewPr>
      <p:cViewPr varScale="1">
        <p:scale>
          <a:sx n="84" d="100"/>
          <a:sy n="84" d="100"/>
        </p:scale>
        <p:origin x="941"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90BE4BB3-868B-4FCF-90BA-598C35BAB128}" type="datetimeFigureOut">
              <a:rPr lang="en-IN" smtClean="0"/>
              <a:t>14-10-2025</a:t>
            </a:fld>
            <a:endParaRPr lang="en-IN"/>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C9A5DB97-BB94-4A5D-A55B-6953A4D6814B}" type="slidenum">
              <a:rPr lang="en-IN" smtClean="0"/>
              <a:t>‹#›</a:t>
            </a:fld>
            <a:endParaRPr lang="en-IN"/>
          </a:p>
        </p:txBody>
      </p:sp>
    </p:spTree>
    <p:extLst>
      <p:ext uri="{BB962C8B-B14F-4D97-AF65-F5344CB8AC3E}">
        <p14:creationId xmlns:p14="http://schemas.microsoft.com/office/powerpoint/2010/main" val="3593682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 name="Google Shape;131;p1: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2" name="Google Shape;132;p1: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33" name="Google Shape;133;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3: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4</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 name="Google Shape;150;p3: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3: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52" name="Google Shape;152;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5</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6</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6D352401-4EBA-6E49-F885-391ED4F943D1}"/>
            </a:ext>
          </a:extLst>
        </p:cNvPr>
        <p:cNvGrpSpPr/>
        <p:nvPr/>
      </p:nvGrpSpPr>
      <p:grpSpPr>
        <a:xfrm>
          <a:off x="0" y="0"/>
          <a:ext cx="0" cy="0"/>
          <a:chOff x="0" y="0"/>
          <a:chExt cx="0" cy="0"/>
        </a:xfrm>
      </p:grpSpPr>
      <p:sp>
        <p:nvSpPr>
          <p:cNvPr id="149" name="Google Shape;149;p3:notes">
            <a:extLst>
              <a:ext uri="{FF2B5EF4-FFF2-40B4-BE49-F238E27FC236}">
                <a16:creationId xmlns:a16="http://schemas.microsoft.com/office/drawing/2014/main" id="{6CE0D58E-9BA6-F0B8-3B63-295B0ECCB98A}"/>
              </a:ext>
            </a:extLst>
          </p:cNvPr>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7</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 name="Google Shape;150;p3:notes">
            <a:extLst>
              <a:ext uri="{FF2B5EF4-FFF2-40B4-BE49-F238E27FC236}">
                <a16:creationId xmlns:a16="http://schemas.microsoft.com/office/drawing/2014/main" id="{891D5E12-D8F9-7E75-347A-1FF3C27B3277}"/>
              </a:ext>
            </a:extLst>
          </p:cNvPr>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3:notes">
            <a:extLst>
              <a:ext uri="{FF2B5EF4-FFF2-40B4-BE49-F238E27FC236}">
                <a16:creationId xmlns:a16="http://schemas.microsoft.com/office/drawing/2014/main" id="{19DC8765-F2A0-C592-B8E2-D69FBCEE41DD}"/>
              </a:ext>
            </a:extLst>
          </p:cNvPr>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52" name="Google Shape;152;p3:notes">
            <a:extLst>
              <a:ext uri="{FF2B5EF4-FFF2-40B4-BE49-F238E27FC236}">
                <a16:creationId xmlns:a16="http://schemas.microsoft.com/office/drawing/2014/main" id="{2206B8DE-5C1E-D8E6-BE5B-993E2C68C41B}"/>
              </a:ext>
            </a:extLst>
          </p:cNvPr>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7384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8</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9</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10</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933883E8-B29B-54AF-1D15-2D5B3DEC14C3}"/>
            </a:ext>
          </a:extLst>
        </p:cNvPr>
        <p:cNvGrpSpPr/>
        <p:nvPr/>
      </p:nvGrpSpPr>
      <p:grpSpPr>
        <a:xfrm>
          <a:off x="0" y="0"/>
          <a:ext cx="0" cy="0"/>
          <a:chOff x="0" y="0"/>
          <a:chExt cx="0" cy="0"/>
        </a:xfrm>
      </p:grpSpPr>
      <p:sp>
        <p:nvSpPr>
          <p:cNvPr id="159" name="Google Shape;159;p4:notes">
            <a:extLst>
              <a:ext uri="{FF2B5EF4-FFF2-40B4-BE49-F238E27FC236}">
                <a16:creationId xmlns:a16="http://schemas.microsoft.com/office/drawing/2014/main" id="{ADD518C4-04D8-9EF5-4CA5-FEEEA5D51B6A}"/>
              </a:ext>
            </a:extLst>
          </p:cNvPr>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11</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a:extLst>
              <a:ext uri="{FF2B5EF4-FFF2-40B4-BE49-F238E27FC236}">
                <a16:creationId xmlns:a16="http://schemas.microsoft.com/office/drawing/2014/main" id="{1FB27295-151F-1F7F-18D2-3F1B0923F325}"/>
              </a:ext>
            </a:extLst>
          </p:cNvPr>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a:extLst>
              <a:ext uri="{FF2B5EF4-FFF2-40B4-BE49-F238E27FC236}">
                <a16:creationId xmlns:a16="http://schemas.microsoft.com/office/drawing/2014/main" id="{19E98F35-A6F5-A40D-CE25-22DFFC1F9911}"/>
              </a:ext>
            </a:extLst>
          </p:cNvPr>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a:extLst>
              <a:ext uri="{FF2B5EF4-FFF2-40B4-BE49-F238E27FC236}">
                <a16:creationId xmlns:a16="http://schemas.microsoft.com/office/drawing/2014/main" id="{3667AFCC-75C1-DAC0-07ED-BD7A3B5C5EDA}"/>
              </a:ext>
            </a:extLst>
          </p:cNvPr>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94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12</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13</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14</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0" name="Google Shape;200;p8: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1" name="Google Shape;201;p8: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dirty="0"/>
          </a:p>
        </p:txBody>
      </p:sp>
      <p:sp>
        <p:nvSpPr>
          <p:cNvPr id="202" name="Google Shape;202;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15</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16</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17</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18</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19</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20</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p:nvPr/>
        </p:nvSpPr>
        <p:spPr>
          <a:xfrm>
            <a:off x="6905626" y="6514419"/>
            <a:ext cx="5283728" cy="34358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panose="020B0604020202020204"/>
              <a:buNone/>
            </a:pPr>
            <a:fld id="{00000000-1234-1234-1234-123412341234}" type="slidenum">
              <a:rPr lang="en-US" sz="1300" b="0" i="0" u="none">
                <a:solidFill>
                  <a:srgbClr val="000000"/>
                </a:solidFill>
                <a:latin typeface="Arial" panose="020B0604020202020204"/>
                <a:ea typeface="Arial" panose="020B0604020202020204"/>
                <a:cs typeface="Arial" panose="020B0604020202020204"/>
                <a:sym typeface="Arial" panose="020B0604020202020204"/>
              </a:rPr>
              <a:t>21</a:t>
            </a:fld>
            <a:endParaRPr lang="en-US" sz="13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4:notes"/>
          <p:cNvSpPr txBox="1"/>
          <p:nvPr/>
        </p:nvSpPr>
        <p:spPr>
          <a:xfrm>
            <a:off x="2166938" y="540884"/>
            <a:ext cx="8670395" cy="269988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102175" tIns="51075" rIns="102175" bIns="51075"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4:notes"/>
          <p:cNvSpPr txBox="1">
            <a:spLocks noGrp="1"/>
          </p:cNvSpPr>
          <p:nvPr>
            <p:ph type="body" idx="1"/>
          </p:nvPr>
        </p:nvSpPr>
        <p:spPr>
          <a:xfrm>
            <a:off x="1301751" y="3421062"/>
            <a:ext cx="10395478" cy="3237366"/>
          </a:xfrm>
          <a:prstGeom prst="rect">
            <a:avLst/>
          </a:prstGeom>
          <a:noFill/>
          <a:ln>
            <a:noFill/>
          </a:ln>
        </p:spPr>
        <p:txBody>
          <a:bodyPr spcFirstLastPara="1" wrap="square" lIns="96650" tIns="48325" rIns="96650" bIns="48325" anchor="ctr"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700" b="1" i="0">
                <a:solidFill>
                  <a:srgbClr val="40404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7030A0"/>
                </a:solidFill>
                <a:latin typeface="Arial MT"/>
                <a:cs typeface="Arial MT"/>
              </a:defRPr>
            </a:lvl1p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Verdana"/>
                <a:cs typeface="Verdana"/>
              </a:defRPr>
            </a:lvl1pPr>
          </a:lstStyle>
          <a:p>
            <a:pPr marL="34290">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rgbClr val="40404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7030A0"/>
                </a:solidFill>
                <a:latin typeface="Arial MT"/>
                <a:cs typeface="Arial MT"/>
              </a:defRPr>
            </a:lvl1p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Verdana"/>
                <a:cs typeface="Verdana"/>
              </a:defRPr>
            </a:lvl1pPr>
          </a:lstStyle>
          <a:p>
            <a:pPr marL="34290">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rgbClr val="40404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7030A0"/>
                </a:solidFill>
                <a:latin typeface="Arial MT"/>
                <a:cs typeface="Arial MT"/>
              </a:defRPr>
            </a:lvl1p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7" name="Holder 7"/>
          <p:cNvSpPr>
            <a:spLocks noGrp="1"/>
          </p:cNvSpPr>
          <p:nvPr>
            <p:ph type="sldNum" sz="quarter" idx="7"/>
          </p:nvPr>
        </p:nvSpPr>
        <p:spPr/>
        <p:txBody>
          <a:bodyPr lIns="0" tIns="0" rIns="0" bIns="0"/>
          <a:lstStyle>
            <a:lvl1pPr>
              <a:defRPr sz="1400" b="0" i="0">
                <a:solidFill>
                  <a:schemeClr val="bg1"/>
                </a:solidFill>
                <a:latin typeface="Verdana"/>
                <a:cs typeface="Verdana"/>
              </a:defRPr>
            </a:lvl1pPr>
          </a:lstStyle>
          <a:p>
            <a:pPr marL="34290">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1" i="0">
                <a:solidFill>
                  <a:srgbClr val="40404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7030A0"/>
                </a:solidFill>
                <a:latin typeface="Arial MT"/>
                <a:cs typeface="Arial MT"/>
              </a:defRPr>
            </a:lvl1p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5" name="Holder 5"/>
          <p:cNvSpPr>
            <a:spLocks noGrp="1"/>
          </p:cNvSpPr>
          <p:nvPr>
            <p:ph type="sldNum" sz="quarter" idx="7"/>
          </p:nvPr>
        </p:nvSpPr>
        <p:spPr/>
        <p:txBody>
          <a:bodyPr lIns="0" tIns="0" rIns="0" bIns="0"/>
          <a:lstStyle>
            <a:lvl1pPr>
              <a:defRPr sz="1400" b="0" i="0">
                <a:solidFill>
                  <a:schemeClr val="bg1"/>
                </a:solidFill>
                <a:latin typeface="Verdana"/>
                <a:cs typeface="Verdana"/>
              </a:defRPr>
            </a:lvl1pPr>
          </a:lstStyle>
          <a:p>
            <a:pPr marL="34290">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7030A0"/>
                </a:solidFill>
                <a:latin typeface="Arial MT"/>
                <a:cs typeface="Arial MT"/>
              </a:defRPr>
            </a:lvl1p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4" name="Holder 4"/>
          <p:cNvSpPr>
            <a:spLocks noGrp="1"/>
          </p:cNvSpPr>
          <p:nvPr>
            <p:ph type="sldNum" sz="quarter" idx="7"/>
          </p:nvPr>
        </p:nvSpPr>
        <p:spPr/>
        <p:txBody>
          <a:bodyPr lIns="0" tIns="0" rIns="0" bIns="0"/>
          <a:lstStyle>
            <a:lvl1pPr>
              <a:defRPr sz="1400" b="0" i="0">
                <a:solidFill>
                  <a:schemeClr val="bg1"/>
                </a:solidFill>
                <a:latin typeface="Verdana"/>
                <a:cs typeface="Verdana"/>
              </a:defRPr>
            </a:lvl1pPr>
          </a:lstStyle>
          <a:p>
            <a:pPr marL="34290">
              <a:lnSpc>
                <a:spcPct val="100000"/>
              </a:lnSpc>
              <a:spcBef>
                <a:spcPts val="50"/>
              </a:spcBef>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17"/>
        <p:cNvGrpSpPr/>
        <p:nvPr/>
      </p:nvGrpSpPr>
      <p:grpSpPr>
        <a:xfrm>
          <a:off x="0" y="0"/>
          <a:ext cx="0" cy="0"/>
          <a:chOff x="0" y="0"/>
          <a:chExt cx="0" cy="0"/>
        </a:xfrm>
      </p:grpSpPr>
      <p:sp>
        <p:nvSpPr>
          <p:cNvPr id="18" name="Google Shape;18;p2"/>
          <p:cNvSpPr txBox="1">
            <a:spLocks noGrp="1"/>
          </p:cNvSpPr>
          <p:nvPr>
            <p:ph type="dt" idx="10"/>
          </p:nvPr>
        </p:nvSpPr>
        <p:spPr>
          <a:xfrm>
            <a:off x="8229600" y="6191250"/>
            <a:ext cx="33020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1219200" y="6172200"/>
            <a:ext cx="52832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a:spLocks noGrp="1"/>
          </p:cNvSpPr>
          <p:nvPr>
            <p:ph type="sldNum" idx="12"/>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9222930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5725" y="69850"/>
            <a:ext cx="12017375" cy="6692900"/>
          </a:xfrm>
          <a:custGeom>
            <a:avLst/>
            <a:gdLst/>
            <a:ahLst/>
            <a:cxnLst/>
            <a:rect l="l" t="t" r="r" b="b"/>
            <a:pathLst>
              <a:path w="12017375" h="6692900">
                <a:moveTo>
                  <a:pt x="0" y="71279"/>
                </a:moveTo>
                <a:lnTo>
                  <a:pt x="5601" y="43534"/>
                </a:lnTo>
                <a:lnTo>
                  <a:pt x="20877" y="20877"/>
                </a:lnTo>
                <a:lnTo>
                  <a:pt x="43534" y="5601"/>
                </a:lnTo>
                <a:lnTo>
                  <a:pt x="71279" y="0"/>
                </a:lnTo>
                <a:lnTo>
                  <a:pt x="11946094" y="0"/>
                </a:lnTo>
                <a:lnTo>
                  <a:pt x="11985641" y="11975"/>
                </a:lnTo>
                <a:lnTo>
                  <a:pt x="12011949" y="44001"/>
                </a:lnTo>
                <a:lnTo>
                  <a:pt x="12017374" y="71279"/>
                </a:lnTo>
                <a:lnTo>
                  <a:pt x="12017374" y="6621619"/>
                </a:lnTo>
                <a:lnTo>
                  <a:pt x="12011773" y="6649365"/>
                </a:lnTo>
                <a:lnTo>
                  <a:pt x="11996497" y="6672022"/>
                </a:lnTo>
                <a:lnTo>
                  <a:pt x="11973840" y="6687298"/>
                </a:lnTo>
                <a:lnTo>
                  <a:pt x="11946094" y="6692899"/>
                </a:lnTo>
                <a:lnTo>
                  <a:pt x="71279" y="6692899"/>
                </a:lnTo>
                <a:lnTo>
                  <a:pt x="43534" y="6687298"/>
                </a:lnTo>
                <a:lnTo>
                  <a:pt x="20877" y="6672022"/>
                </a:lnTo>
                <a:lnTo>
                  <a:pt x="5601" y="6649365"/>
                </a:lnTo>
                <a:lnTo>
                  <a:pt x="0" y="6621619"/>
                </a:lnTo>
                <a:lnTo>
                  <a:pt x="0" y="71279"/>
                </a:lnTo>
                <a:close/>
              </a:path>
            </a:pathLst>
          </a:custGeom>
          <a:ln w="9524">
            <a:solidFill>
              <a:srgbClr val="000000"/>
            </a:solidFill>
          </a:ln>
        </p:spPr>
        <p:txBody>
          <a:bodyPr wrap="square" lIns="0" tIns="0" rIns="0" bIns="0" rtlCol="0"/>
          <a:lstStyle/>
          <a:p>
            <a:endParaRPr/>
          </a:p>
        </p:txBody>
      </p:sp>
      <p:sp>
        <p:nvSpPr>
          <p:cNvPr id="2" name="Holder 2"/>
          <p:cNvSpPr>
            <a:spLocks noGrp="1"/>
          </p:cNvSpPr>
          <p:nvPr>
            <p:ph type="title"/>
          </p:nvPr>
        </p:nvSpPr>
        <p:spPr>
          <a:xfrm>
            <a:off x="4406079" y="197739"/>
            <a:ext cx="3439795" cy="284480"/>
          </a:xfrm>
          <a:prstGeom prst="rect">
            <a:avLst/>
          </a:prstGeom>
        </p:spPr>
        <p:txBody>
          <a:bodyPr wrap="square" lIns="0" tIns="0" rIns="0" bIns="0">
            <a:spAutoFit/>
          </a:bodyPr>
          <a:lstStyle>
            <a:lvl1pPr>
              <a:defRPr sz="1700" b="1" i="0">
                <a:solidFill>
                  <a:srgbClr val="404040"/>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03389" y="6473423"/>
            <a:ext cx="3853815" cy="200659"/>
          </a:xfrm>
          <a:prstGeom prst="rect">
            <a:avLst/>
          </a:prstGeom>
        </p:spPr>
        <p:txBody>
          <a:bodyPr wrap="square" lIns="0" tIns="0" rIns="0" bIns="0">
            <a:spAutoFit/>
          </a:bodyPr>
          <a:lstStyle>
            <a:lvl1pPr>
              <a:defRPr sz="1200" b="0" i="0">
                <a:solidFill>
                  <a:srgbClr val="7030A0"/>
                </a:solidFill>
                <a:latin typeface="Arial MT"/>
                <a:cs typeface="Arial MT"/>
              </a:defRPr>
            </a:lvl1p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a:xfrm>
            <a:off x="408740" y="6318453"/>
            <a:ext cx="199390" cy="241300"/>
          </a:xfrm>
          <a:prstGeom prst="rect">
            <a:avLst/>
          </a:prstGeom>
        </p:spPr>
        <p:txBody>
          <a:bodyPr wrap="square" lIns="0" tIns="0" rIns="0" bIns="0">
            <a:spAutoFit/>
          </a:bodyPr>
          <a:lstStyle>
            <a:lvl1pPr>
              <a:defRPr sz="1400" b="0" i="0">
                <a:solidFill>
                  <a:schemeClr val="bg1"/>
                </a:solidFill>
                <a:latin typeface="Verdana"/>
                <a:cs typeface="Verdana"/>
              </a:defRPr>
            </a:lvl1pPr>
          </a:lstStyle>
          <a:p>
            <a:pPr marL="34290">
              <a:lnSpc>
                <a:spcPct val="100000"/>
              </a:lnSpc>
              <a:spcBef>
                <a:spcPts val="5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saasscout.com/statistics/gmail-statistics/"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hyperlink" Target="https://www.redditinc.com/blog/reddits-2019-year-in-review/"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7"/>
          <p:cNvSpPr txBox="1"/>
          <p:nvPr/>
        </p:nvSpPr>
        <p:spPr>
          <a:xfrm>
            <a:off x="1096962" y="180975"/>
            <a:ext cx="10058400" cy="6438900"/>
          </a:xfrm>
          <a:prstGeom prst="rect">
            <a:avLst/>
          </a:prstGeom>
          <a:noFill/>
          <a:ln>
            <a:noFill/>
          </a:ln>
        </p:spPr>
        <p:txBody>
          <a:bodyPr spcFirstLastPara="1" wrap="square" lIns="91425" tIns="45700" rIns="91425" bIns="45700" anchor="t" anchorCtr="0">
            <a:normAutofit/>
          </a:bodyPr>
          <a:lstStyle/>
          <a:p>
            <a:pPr marL="0" marR="0" lvl="0" indent="0" algn="ctr" rtl="0">
              <a:lnSpc>
                <a:spcPct val="150000"/>
              </a:lnSpc>
              <a:spcBef>
                <a:spcPts val="0"/>
              </a:spcBef>
              <a:spcAft>
                <a:spcPts val="0"/>
              </a:spcAft>
              <a:buClr>
                <a:srgbClr val="404040"/>
              </a:buClr>
              <a:buSzPts val="1700"/>
              <a:buFont typeface="Times New Roman" panose="02020603050405020304"/>
              <a:buNone/>
            </a:pPr>
            <a:r>
              <a:rPr lang="en-US"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A Seminar Review II Presentation on</a:t>
            </a:r>
            <a:endParaRPr dirty="0"/>
          </a:p>
          <a:p>
            <a:pPr marL="0" marR="0" lvl="0" indent="0" algn="ctr" rtl="0">
              <a:lnSpc>
                <a:spcPct val="150000"/>
              </a:lnSpc>
              <a:spcBef>
                <a:spcPts val="0"/>
              </a:spcBef>
              <a:spcAft>
                <a:spcPts val="0"/>
              </a:spcAft>
              <a:buClr>
                <a:schemeClr val="dk1"/>
              </a:buClr>
              <a:buSzPts val="1700"/>
              <a:buFont typeface="Arial" panose="020B0604020202020204"/>
              <a:buNone/>
            </a:pPr>
            <a:endParaRPr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Clr>
                <a:schemeClr val="dk1"/>
              </a:buClr>
              <a:buSzPts val="1700"/>
              <a:buFont typeface="Arial" panose="020B0604020202020204"/>
              <a:buNone/>
            </a:pPr>
            <a:endParaRPr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404040"/>
              </a:buClr>
              <a:buSzPts val="1700"/>
              <a:buFont typeface="Times New Roman" panose="02020603050405020304"/>
              <a:buNone/>
            </a:pPr>
            <a:r>
              <a:rPr lang="en-US"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Submitted to Savitribai Phule Pune University</a:t>
            </a:r>
            <a:endParaRPr dirty="0"/>
          </a:p>
          <a:p>
            <a:pPr marL="0" marR="0" lvl="0" indent="0" algn="ctr" rtl="0">
              <a:lnSpc>
                <a:spcPct val="100000"/>
              </a:lnSpc>
              <a:spcBef>
                <a:spcPts val="0"/>
              </a:spcBef>
              <a:spcAft>
                <a:spcPts val="0"/>
              </a:spcAft>
              <a:buClr>
                <a:srgbClr val="404040"/>
              </a:buClr>
              <a:buSzPts val="1700"/>
              <a:buFont typeface="Times New Roman" panose="02020603050405020304"/>
              <a:buNone/>
            </a:pPr>
            <a:r>
              <a:rPr lang="en-US"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for the partial fulfillment of Under Graduate Degree in </a:t>
            </a:r>
            <a:endParaRPr dirty="0"/>
          </a:p>
          <a:p>
            <a:pPr marL="0" marR="0" lvl="0" indent="0" algn="ctr" rtl="0">
              <a:lnSpc>
                <a:spcPct val="100000"/>
              </a:lnSpc>
              <a:spcBef>
                <a:spcPts val="0"/>
              </a:spcBef>
              <a:spcAft>
                <a:spcPts val="0"/>
              </a:spcAft>
              <a:buClr>
                <a:srgbClr val="404040"/>
              </a:buClr>
              <a:buSzPts val="1700"/>
              <a:buFont typeface="Times New Roman" panose="02020603050405020304"/>
              <a:buNone/>
            </a:pPr>
            <a:r>
              <a:rPr lang="en-US"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Department of Computer Engineering</a:t>
            </a:r>
            <a:endParaRPr sz="13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65000"/>
              </a:lnSpc>
              <a:spcBef>
                <a:spcPts val="0"/>
              </a:spcBef>
              <a:spcAft>
                <a:spcPts val="0"/>
              </a:spcAft>
              <a:buClr>
                <a:schemeClr val="dk1"/>
              </a:buClr>
              <a:buSzPts val="600"/>
              <a:buFont typeface="Arial" panose="020B0604020202020204"/>
              <a:buNone/>
            </a:pPr>
            <a:endParaRPr sz="6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65000"/>
              </a:lnSpc>
              <a:spcBef>
                <a:spcPts val="0"/>
              </a:spcBef>
              <a:spcAft>
                <a:spcPts val="0"/>
              </a:spcAft>
              <a:buClr>
                <a:schemeClr val="dk1"/>
              </a:buClr>
              <a:buSzPts val="1700"/>
              <a:buFont typeface="Arial" panose="020B0604020202020204"/>
              <a:buNone/>
            </a:pPr>
            <a:endParaRPr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65000"/>
              </a:lnSpc>
              <a:spcBef>
                <a:spcPts val="0"/>
              </a:spcBef>
              <a:spcAft>
                <a:spcPts val="0"/>
              </a:spcAft>
              <a:buClr>
                <a:srgbClr val="404040"/>
              </a:buClr>
              <a:buSzPts val="1700"/>
              <a:buFont typeface="Times New Roman" panose="02020603050405020304"/>
              <a:buNone/>
            </a:pPr>
            <a:r>
              <a:rPr lang="en-US"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Presented By</a:t>
            </a:r>
            <a:endParaRPr dirty="0"/>
          </a:p>
          <a:p>
            <a:pPr marL="0" marR="0" lvl="0" indent="0" algn="ctr" rtl="0">
              <a:lnSpc>
                <a:spcPct val="65000"/>
              </a:lnSpc>
              <a:spcBef>
                <a:spcPts val="0"/>
              </a:spcBef>
              <a:spcAft>
                <a:spcPts val="0"/>
              </a:spcAft>
              <a:buClr>
                <a:schemeClr val="dk1"/>
              </a:buClr>
              <a:buSzPts val="700"/>
              <a:buFont typeface="Arial" panose="020B0604020202020204"/>
              <a:buNone/>
            </a:pPr>
            <a:endParaRPr sz="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algn="ctr" rtl="0">
              <a:lnSpc>
                <a:spcPct val="90000"/>
              </a:lnSpc>
              <a:buClr>
                <a:srgbClr val="FF0000"/>
              </a:buClr>
              <a:buSzPts val="1700"/>
            </a:pPr>
            <a:r>
              <a:rPr lang="en-US" sz="1700" b="1" i="0" u="none"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Unmesh R Patil| </a:t>
            </a:r>
            <a:r>
              <a:rPr lang="en-US" sz="1100" b="1" i="0" u="none"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PRN : </a:t>
            </a:r>
            <a:r>
              <a:rPr lang="en-IN" sz="1050" b="1" spc="-10" dirty="0">
                <a:solidFill>
                  <a:srgbClr val="FF0000"/>
                </a:solidFill>
                <a:latin typeface="Times New Roman"/>
                <a:cs typeface="Times New Roman"/>
              </a:rPr>
              <a:t>72331665B</a:t>
            </a:r>
            <a:endParaRPr lang="en-IN" sz="1050" dirty="0">
              <a:latin typeface="Times New Roman"/>
              <a:cs typeface="Times New Roman"/>
            </a:endParaRPr>
          </a:p>
          <a:p>
            <a:pPr marL="0" marR="0" lvl="0" indent="0" algn="ctr" rtl="0">
              <a:lnSpc>
                <a:spcPct val="90000"/>
              </a:lnSpc>
              <a:spcBef>
                <a:spcPts val="0"/>
              </a:spcBef>
              <a:spcAft>
                <a:spcPts val="0"/>
              </a:spcAft>
              <a:buClr>
                <a:srgbClr val="FF0000"/>
              </a:buClr>
              <a:buSzPts val="1700"/>
              <a:buFont typeface="Times New Roman" panose="02020603050405020304"/>
              <a:buNone/>
            </a:pPr>
            <a:endParaRPr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65000"/>
              </a:lnSpc>
              <a:spcBef>
                <a:spcPts val="0"/>
              </a:spcBef>
              <a:spcAft>
                <a:spcPts val="0"/>
              </a:spcAft>
              <a:buClr>
                <a:schemeClr val="dk1"/>
              </a:buClr>
              <a:buSzPts val="1700"/>
              <a:buFont typeface="Arial" panose="020B0604020202020204"/>
              <a:buNone/>
            </a:pPr>
            <a:endParaRPr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65000"/>
              </a:lnSpc>
              <a:spcBef>
                <a:spcPts val="0"/>
              </a:spcBef>
              <a:spcAft>
                <a:spcPts val="0"/>
              </a:spcAft>
              <a:buClr>
                <a:srgbClr val="404040"/>
              </a:buClr>
              <a:buSzPts val="1700"/>
              <a:buFont typeface="Times New Roman" panose="02020603050405020304"/>
              <a:buNone/>
            </a:pPr>
            <a:r>
              <a:rPr lang="en-US" sz="1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Guided By</a:t>
            </a:r>
            <a:endParaRPr dirty="0"/>
          </a:p>
          <a:p>
            <a:pPr marL="0" marR="0" lvl="0" indent="0" algn="ctr" rtl="0">
              <a:lnSpc>
                <a:spcPct val="65000"/>
              </a:lnSpc>
              <a:spcBef>
                <a:spcPts val="0"/>
              </a:spcBef>
              <a:spcAft>
                <a:spcPts val="0"/>
              </a:spcAft>
              <a:buClr>
                <a:schemeClr val="dk1"/>
              </a:buClr>
              <a:buSzPts val="700"/>
              <a:buFont typeface="Arial" panose="020B0604020202020204"/>
              <a:buNone/>
            </a:pPr>
            <a:endParaRPr sz="7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algn="ctr"/>
            <a:r>
              <a:rPr lang="en-IN" b="1" dirty="0"/>
              <a:t>   </a:t>
            </a:r>
            <a:r>
              <a:rPr lang="en-IN" sz="1800" b="1" dirty="0">
                <a:latin typeface="Arial"/>
                <a:cs typeface="Arial"/>
              </a:rPr>
              <a:t>Prof.</a:t>
            </a:r>
            <a:r>
              <a:rPr lang="en-IN" sz="1800" b="1" spc="-15" dirty="0">
                <a:latin typeface="Arial"/>
                <a:cs typeface="Arial"/>
              </a:rPr>
              <a:t> </a:t>
            </a:r>
            <a:r>
              <a:rPr lang="en-IN" sz="1800" b="1" dirty="0">
                <a:latin typeface="Arial"/>
                <a:cs typeface="Arial"/>
              </a:rPr>
              <a:t>S.</a:t>
            </a:r>
            <a:r>
              <a:rPr lang="en-IN" sz="1800" b="1" spc="-30" dirty="0">
                <a:latin typeface="Arial"/>
                <a:cs typeface="Arial"/>
              </a:rPr>
              <a:t> </a:t>
            </a:r>
            <a:r>
              <a:rPr lang="en-IN" sz="1800" b="1" dirty="0">
                <a:latin typeface="Arial"/>
                <a:cs typeface="Arial"/>
              </a:rPr>
              <a:t>C.</a:t>
            </a:r>
            <a:r>
              <a:rPr lang="en-IN" sz="1800" b="1" spc="-10" dirty="0">
                <a:latin typeface="Arial"/>
                <a:cs typeface="Arial"/>
              </a:rPr>
              <a:t> </a:t>
            </a:r>
            <a:r>
              <a:rPr lang="en-IN" sz="1800" b="1" spc="-20" dirty="0">
                <a:latin typeface="Arial"/>
                <a:cs typeface="Arial"/>
              </a:rPr>
              <a:t>Waje</a:t>
            </a: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chemeClr val="dk1"/>
              </a:buClr>
              <a:buSzPts val="1700"/>
              <a:buFont typeface="Arial" panose="020B0604020202020204"/>
              <a:buNone/>
            </a:pPr>
            <a:endParaRPr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0"/>
              </a:spcBef>
              <a:spcAft>
                <a:spcPts val="0"/>
              </a:spcAft>
              <a:buClr>
                <a:srgbClr val="404040"/>
              </a:buClr>
              <a:buSzPts val="1700"/>
              <a:buFont typeface="Times New Roman" panose="02020603050405020304"/>
              <a:buNone/>
            </a:pPr>
            <a:r>
              <a:rPr lang="en-US"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Department of Computer Engineering</a:t>
            </a:r>
            <a:endParaRPr dirty="0"/>
          </a:p>
          <a:p>
            <a:pPr marL="0" marR="0" lvl="0" indent="0" algn="ctr" rtl="0">
              <a:lnSpc>
                <a:spcPct val="90000"/>
              </a:lnSpc>
              <a:spcBef>
                <a:spcPts val="0"/>
              </a:spcBef>
              <a:spcAft>
                <a:spcPts val="0"/>
              </a:spcAft>
              <a:buClr>
                <a:srgbClr val="404040"/>
              </a:buClr>
              <a:buSzPts val="1700"/>
              <a:buFont typeface="Times New Roman" panose="02020603050405020304"/>
              <a:buNone/>
            </a:pPr>
            <a:r>
              <a:rPr lang="en-US" sz="17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PVG’s College of Engineering &amp; S. S. Dhamankar Institute of Management, Nashik </a:t>
            </a:r>
            <a:endParaRPr dirty="0"/>
          </a:p>
          <a:p>
            <a:pPr marL="0" marR="0" lvl="0" indent="0" algn="ctr" rtl="0">
              <a:lnSpc>
                <a:spcPct val="90000"/>
              </a:lnSpc>
              <a:spcBef>
                <a:spcPts val="0"/>
              </a:spcBef>
              <a:spcAft>
                <a:spcPts val="0"/>
              </a:spcAft>
              <a:buClr>
                <a:srgbClr val="7030A0"/>
              </a:buClr>
              <a:buSzPts val="1700"/>
              <a:buFont typeface="Times New Roman" panose="02020603050405020304"/>
              <a:buNone/>
            </a:pPr>
            <a:r>
              <a:rPr lang="en-US" sz="1700" b="1" i="0" u="none" dirty="0">
                <a:solidFill>
                  <a:srgbClr val="7030A0"/>
                </a:solidFill>
                <a:latin typeface="Times New Roman" panose="02020603050405020304"/>
                <a:ea typeface="Times New Roman" panose="02020603050405020304"/>
                <a:cs typeface="Times New Roman" panose="02020603050405020304"/>
                <a:sym typeface="Times New Roman" panose="02020603050405020304"/>
              </a:rPr>
              <a:t>Academic Year  2025 - 26 </a:t>
            </a:r>
            <a:endParaRPr sz="13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300"/>
              <a:buFont typeface="Arial" panose="020B0604020202020204"/>
              <a:buNone/>
            </a:pPr>
            <a:endParaRPr sz="13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1400"/>
              <a:buFont typeface="Arial" panose="020B0604020202020204"/>
              <a:buNone/>
            </a:pPr>
            <a:endParaRPr sz="1400" b="1" i="0"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1" i="1"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1" i="1" u="none" dirty="0">
              <a:solidFill>
                <a:srgbClr val="404040"/>
              </a:solidFill>
              <a:latin typeface="Arial Narrow" panose="020B0606020202030204"/>
              <a:ea typeface="Arial Narrow" panose="020B0606020202030204"/>
              <a:cs typeface="Arial Narrow" panose="020B0606020202030204"/>
              <a:sym typeface="Arial Narrow" panose="020B0606020202030204"/>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ctr" rtl="0">
              <a:lnSpc>
                <a:spcPct val="65000"/>
              </a:lnSpc>
              <a:spcBef>
                <a:spcPts val="0"/>
              </a:spcBef>
              <a:spcAft>
                <a:spcPts val="0"/>
              </a:spcAft>
              <a:buClr>
                <a:schemeClr val="dk1"/>
              </a:buClr>
              <a:buSzPts val="2500"/>
              <a:buFont typeface="Arial" panose="020B0604020202020204"/>
              <a:buNone/>
            </a:pPr>
            <a:endParaRPr sz="2500" b="0" i="0" u="none" dirty="0">
              <a:solidFill>
                <a:srgbClr val="404040"/>
              </a:solidFill>
              <a:latin typeface="Libre Franklin"/>
              <a:ea typeface="Libre Franklin"/>
              <a:cs typeface="Libre Franklin"/>
              <a:sym typeface="Libre Franklin"/>
            </a:endParaRPr>
          </a:p>
          <a:p>
            <a:pPr marL="0" marR="0" lvl="0" indent="0" algn="l" rtl="0">
              <a:lnSpc>
                <a:spcPct val="100000"/>
              </a:lnSpc>
              <a:spcBef>
                <a:spcPts val="0"/>
              </a:spcBef>
              <a:spcAft>
                <a:spcPts val="0"/>
              </a:spcAft>
              <a:buNone/>
            </a:pPr>
            <a:endParaRPr sz="2500" b="0" i="0" u="none" dirty="0">
              <a:solidFill>
                <a:srgbClr val="404040"/>
              </a:solidFill>
              <a:latin typeface="Libre Franklin"/>
              <a:ea typeface="Libre Franklin"/>
              <a:cs typeface="Libre Franklin"/>
              <a:sym typeface="Libre Franklin"/>
            </a:endParaRPr>
          </a:p>
        </p:txBody>
      </p:sp>
      <p:sp>
        <p:nvSpPr>
          <p:cNvPr id="136" name="Google Shape;136;p17"/>
          <p:cNvSpPr txBox="1"/>
          <p:nvPr/>
        </p:nvSpPr>
        <p:spPr>
          <a:xfrm>
            <a:off x="249797" y="592137"/>
            <a:ext cx="11674475" cy="596900"/>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a:lnSpc>
                <a:spcPts val="2305"/>
              </a:lnSpc>
            </a:pPr>
            <a:r>
              <a:rPr lang="en-US" sz="2000" b="1" spc="-20" dirty="0">
                <a:latin typeface="Arial"/>
                <a:cs typeface="Arial"/>
              </a:rPr>
              <a:t>Understanding </a:t>
            </a:r>
            <a:r>
              <a:rPr lang="en-US" sz="2000" b="1" dirty="0">
                <a:latin typeface="Arial"/>
                <a:cs typeface="Arial"/>
              </a:rPr>
              <a:t>the</a:t>
            </a:r>
            <a:r>
              <a:rPr lang="en-US" sz="2000" b="1" spc="-60" dirty="0">
                <a:latin typeface="Arial"/>
                <a:cs typeface="Arial"/>
              </a:rPr>
              <a:t> </a:t>
            </a:r>
            <a:r>
              <a:rPr lang="en-US" sz="2000" b="1" dirty="0">
                <a:latin typeface="Arial"/>
                <a:cs typeface="Arial"/>
              </a:rPr>
              <a:t>Security</a:t>
            </a:r>
            <a:r>
              <a:rPr lang="en-US" sz="2000" b="1" spc="-40" dirty="0">
                <a:latin typeface="Arial"/>
                <a:cs typeface="Arial"/>
              </a:rPr>
              <a:t> </a:t>
            </a:r>
            <a:r>
              <a:rPr lang="en-US" sz="2000" b="1" dirty="0">
                <a:latin typeface="Arial"/>
                <a:cs typeface="Arial"/>
              </a:rPr>
              <a:t>Risks</a:t>
            </a:r>
            <a:r>
              <a:rPr lang="en-US" sz="2000" b="1" spc="-30" dirty="0">
                <a:latin typeface="Arial"/>
                <a:cs typeface="Arial"/>
              </a:rPr>
              <a:t> </a:t>
            </a:r>
            <a:r>
              <a:rPr lang="en-US" sz="2000" b="1" dirty="0">
                <a:latin typeface="Arial"/>
                <a:cs typeface="Arial"/>
              </a:rPr>
              <a:t>of</a:t>
            </a:r>
            <a:r>
              <a:rPr lang="en-US" sz="2000" b="1" spc="-70" dirty="0">
                <a:latin typeface="Arial"/>
                <a:cs typeface="Arial"/>
              </a:rPr>
              <a:t> </a:t>
            </a:r>
            <a:r>
              <a:rPr lang="en-US" sz="2000" b="1" dirty="0">
                <a:latin typeface="Arial"/>
                <a:cs typeface="Arial"/>
              </a:rPr>
              <a:t>Websites</a:t>
            </a:r>
            <a:r>
              <a:rPr lang="en-US" sz="2000" b="1" spc="-55" dirty="0">
                <a:latin typeface="Arial"/>
                <a:cs typeface="Arial"/>
              </a:rPr>
              <a:t> </a:t>
            </a:r>
            <a:r>
              <a:rPr lang="en-US" sz="2000" b="1" dirty="0">
                <a:latin typeface="Arial"/>
                <a:cs typeface="Arial"/>
              </a:rPr>
              <a:t>Using</a:t>
            </a:r>
            <a:r>
              <a:rPr lang="en-US" sz="2000" b="1" spc="-50" dirty="0">
                <a:latin typeface="Arial"/>
                <a:cs typeface="Arial"/>
              </a:rPr>
              <a:t> </a:t>
            </a:r>
            <a:r>
              <a:rPr lang="en-US" sz="2000" b="1" dirty="0">
                <a:latin typeface="Arial"/>
                <a:cs typeface="Arial"/>
              </a:rPr>
              <a:t>Cloud</a:t>
            </a:r>
            <a:r>
              <a:rPr lang="en-US" sz="2000" b="1" spc="-35" dirty="0">
                <a:latin typeface="Arial"/>
                <a:cs typeface="Arial"/>
              </a:rPr>
              <a:t> </a:t>
            </a:r>
            <a:r>
              <a:rPr lang="en-US" sz="2000" b="1" dirty="0">
                <a:latin typeface="Arial"/>
                <a:cs typeface="Arial"/>
              </a:rPr>
              <a:t>Storage</a:t>
            </a:r>
            <a:r>
              <a:rPr lang="en-US" sz="2000" b="1" spc="-45" dirty="0">
                <a:latin typeface="Arial"/>
                <a:cs typeface="Arial"/>
              </a:rPr>
              <a:t> </a:t>
            </a:r>
            <a:r>
              <a:rPr lang="en-US" sz="2000" b="1" dirty="0">
                <a:latin typeface="Arial"/>
                <a:cs typeface="Arial"/>
              </a:rPr>
              <a:t>for</a:t>
            </a:r>
            <a:r>
              <a:rPr lang="en-US" sz="2000" b="1" spc="-60" dirty="0">
                <a:latin typeface="Arial"/>
                <a:cs typeface="Arial"/>
              </a:rPr>
              <a:t> </a:t>
            </a:r>
            <a:r>
              <a:rPr lang="en-US" sz="2000" b="1" dirty="0">
                <a:latin typeface="Arial"/>
                <a:cs typeface="Arial"/>
              </a:rPr>
              <a:t>Direct</a:t>
            </a:r>
            <a:r>
              <a:rPr lang="en-US" sz="2000" b="1" spc="-35" dirty="0">
                <a:latin typeface="Arial"/>
                <a:cs typeface="Arial"/>
              </a:rPr>
              <a:t> </a:t>
            </a:r>
            <a:r>
              <a:rPr lang="en-US" sz="2000" b="1" dirty="0">
                <a:latin typeface="Arial"/>
                <a:cs typeface="Arial"/>
              </a:rPr>
              <a:t>User</a:t>
            </a:r>
            <a:r>
              <a:rPr lang="en-US" sz="2000" b="1" spc="-50" dirty="0">
                <a:latin typeface="Arial"/>
                <a:cs typeface="Arial"/>
              </a:rPr>
              <a:t> </a:t>
            </a:r>
            <a:r>
              <a:rPr lang="en-US" sz="2000" b="1" spc="-20" dirty="0">
                <a:latin typeface="Arial"/>
                <a:cs typeface="Arial"/>
              </a:rPr>
              <a:t>File</a:t>
            </a:r>
            <a:endParaRPr lang="en-US" sz="2000" dirty="0">
              <a:latin typeface="Arial"/>
              <a:cs typeface="Arial"/>
            </a:endParaRPr>
          </a:p>
          <a:p>
            <a:pPr marL="3810" algn="ctr">
              <a:lnSpc>
                <a:spcPts val="2400"/>
              </a:lnSpc>
            </a:pPr>
            <a:r>
              <a:rPr lang="en-US" sz="2000" b="1" spc="-10" dirty="0">
                <a:latin typeface="Arial"/>
                <a:cs typeface="Arial"/>
              </a:rPr>
              <a:t>Uploads</a:t>
            </a:r>
            <a:r>
              <a:rPr lang="en-US" sz="2000" b="0" i="0" u="none" dirty="0">
                <a:solidFill>
                  <a:schemeClr val="dk1"/>
                </a:solidFill>
                <a:latin typeface="Arial Narrow" panose="020B0606020202030204"/>
                <a:ea typeface="Arial Narrow" panose="020B0606020202030204"/>
                <a:cs typeface="Arial Narrow" panose="020B0606020202030204"/>
                <a:sym typeface="Arial Narrow" panose="020B0606020202030204"/>
              </a:rPr>
              <a:t> </a:t>
            </a:r>
            <a:endParaRPr sz="2000" dirty="0"/>
          </a:p>
        </p:txBody>
      </p:sp>
      <p:pic>
        <p:nvPicPr>
          <p:cNvPr id="137" name="Google Shape;137;p17"/>
          <p:cNvPicPr preferRelativeResize="0"/>
          <p:nvPr/>
        </p:nvPicPr>
        <p:blipFill rotWithShape="1">
          <a:blip r:embed="rId3"/>
          <a:srcRect/>
          <a:stretch>
            <a:fillRect/>
          </a:stretch>
        </p:blipFill>
        <p:spPr>
          <a:xfrm>
            <a:off x="4164012" y="3821112"/>
            <a:ext cx="3924300" cy="1604962"/>
          </a:xfrm>
          <a:prstGeom prst="rect">
            <a:avLst/>
          </a:prstGeom>
          <a:noFill/>
          <a:ln>
            <a:noFill/>
          </a:ln>
        </p:spPr>
      </p:pic>
    </p:spTree>
    <p:extLst>
      <p:ext uri="{BB962C8B-B14F-4D97-AF65-F5344CB8AC3E}">
        <p14:creationId xmlns:p14="http://schemas.microsoft.com/office/powerpoint/2010/main" val="343902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362" y="884999"/>
            <a:ext cx="5074920" cy="3926716"/>
          </a:xfrm>
          <a:prstGeom prst="rect">
            <a:avLst/>
          </a:prstGeom>
        </p:spPr>
        <p:txBody>
          <a:bodyPr vert="horz" wrap="square" lIns="0" tIns="172720" rIns="0" bIns="0" rtlCol="0">
            <a:spAutoFit/>
          </a:bodyPr>
          <a:lstStyle/>
          <a:p>
            <a:pPr marL="579755" indent="-492125">
              <a:lnSpc>
                <a:spcPct val="100000"/>
              </a:lnSpc>
              <a:spcBef>
                <a:spcPts val="1360"/>
              </a:spcBef>
              <a:buFont typeface="Segoe UI Symbol"/>
              <a:buChar char="□"/>
              <a:tabLst>
                <a:tab pos="579755" algn="l"/>
              </a:tabLst>
            </a:pPr>
            <a:r>
              <a:rPr sz="2100" b="1" spc="-10" dirty="0">
                <a:solidFill>
                  <a:srgbClr val="404040"/>
                </a:solidFill>
                <a:latin typeface="Times New Roman" pitchFamily="18" charset="0"/>
                <a:cs typeface="Times New Roman" pitchFamily="18" charset="0"/>
              </a:rPr>
              <a:t>Introduction</a:t>
            </a:r>
            <a:endParaRPr sz="2100" dirty="0">
              <a:latin typeface="Times New Roman" pitchFamily="18" charset="0"/>
              <a:cs typeface="Times New Roman" pitchFamily="18" charset="0"/>
            </a:endParaRPr>
          </a:p>
          <a:p>
            <a:pPr marL="579755" indent="-492125">
              <a:lnSpc>
                <a:spcPct val="100000"/>
              </a:lnSpc>
              <a:spcBef>
                <a:spcPts val="1260"/>
              </a:spcBef>
              <a:buFont typeface="Segoe UI Symbol"/>
              <a:buChar char="□"/>
              <a:tabLst>
                <a:tab pos="579755" algn="l"/>
              </a:tabLst>
            </a:pPr>
            <a:r>
              <a:rPr sz="2100" b="1" spc="-10" dirty="0">
                <a:solidFill>
                  <a:srgbClr val="404040"/>
                </a:solidFill>
                <a:latin typeface="Times New Roman" pitchFamily="18" charset="0"/>
                <a:cs typeface="Times New Roman" pitchFamily="18" charset="0"/>
              </a:rPr>
              <a:t>Motivation</a:t>
            </a:r>
            <a:endParaRPr sz="2100" dirty="0">
              <a:latin typeface="Times New Roman" pitchFamily="18" charset="0"/>
              <a:cs typeface="Times New Roman" pitchFamily="18" charset="0"/>
            </a:endParaRPr>
          </a:p>
          <a:p>
            <a:pPr marL="579755" indent="-492125">
              <a:lnSpc>
                <a:spcPct val="100000"/>
              </a:lnSpc>
              <a:spcBef>
                <a:spcPts val="1260"/>
              </a:spcBef>
              <a:buFont typeface="Segoe UI Symbol"/>
              <a:buChar char="□"/>
              <a:tabLst>
                <a:tab pos="579755" algn="l"/>
              </a:tabLst>
            </a:pPr>
            <a:r>
              <a:rPr sz="2100" b="1" spc="-10" dirty="0">
                <a:solidFill>
                  <a:srgbClr val="404040"/>
                </a:solidFill>
                <a:latin typeface="Times New Roman" pitchFamily="18" charset="0"/>
                <a:cs typeface="Times New Roman" pitchFamily="18" charset="0"/>
              </a:rPr>
              <a:t>Challenges</a:t>
            </a:r>
            <a:endParaRPr sz="2100" dirty="0">
              <a:latin typeface="Times New Roman" pitchFamily="18" charset="0"/>
              <a:cs typeface="Times New Roman" pitchFamily="18" charset="0"/>
            </a:endParaRPr>
          </a:p>
          <a:p>
            <a:pPr marL="579755" indent="-492125">
              <a:lnSpc>
                <a:spcPct val="100000"/>
              </a:lnSpc>
              <a:spcBef>
                <a:spcPts val="1260"/>
              </a:spcBef>
              <a:buFont typeface="Segoe UI Symbol"/>
              <a:buChar char="□"/>
              <a:tabLst>
                <a:tab pos="579755" algn="l"/>
              </a:tabLst>
            </a:pPr>
            <a:r>
              <a:rPr sz="2100" b="1" spc="-10" dirty="0">
                <a:solidFill>
                  <a:srgbClr val="404040"/>
                </a:solidFill>
                <a:latin typeface="Times New Roman" pitchFamily="18" charset="0"/>
                <a:cs typeface="Times New Roman" pitchFamily="18" charset="0"/>
              </a:rPr>
              <a:t>Literature</a:t>
            </a:r>
            <a:r>
              <a:rPr sz="2100" b="1" spc="-50" dirty="0">
                <a:solidFill>
                  <a:srgbClr val="404040"/>
                </a:solidFill>
                <a:latin typeface="Times New Roman" pitchFamily="18" charset="0"/>
                <a:cs typeface="Times New Roman" pitchFamily="18" charset="0"/>
              </a:rPr>
              <a:t> </a:t>
            </a:r>
            <a:r>
              <a:rPr sz="2100" b="1" dirty="0">
                <a:solidFill>
                  <a:srgbClr val="404040"/>
                </a:solidFill>
                <a:latin typeface="Times New Roman" pitchFamily="18" charset="0"/>
                <a:cs typeface="Times New Roman" pitchFamily="18" charset="0"/>
              </a:rPr>
              <a:t>Survey</a:t>
            </a:r>
            <a:r>
              <a:rPr sz="2100" b="1" spc="-40" dirty="0">
                <a:solidFill>
                  <a:srgbClr val="404040"/>
                </a:solidFill>
                <a:latin typeface="Times New Roman" pitchFamily="18" charset="0"/>
                <a:cs typeface="Times New Roman" pitchFamily="18" charset="0"/>
              </a:rPr>
              <a:t> </a:t>
            </a:r>
            <a:r>
              <a:rPr sz="2100" b="1" dirty="0">
                <a:solidFill>
                  <a:srgbClr val="404040"/>
                </a:solidFill>
                <a:latin typeface="Times New Roman" pitchFamily="18" charset="0"/>
                <a:cs typeface="Times New Roman" pitchFamily="18" charset="0"/>
              </a:rPr>
              <a:t>(Minimum</a:t>
            </a:r>
            <a:r>
              <a:rPr sz="2100" b="1" spc="-45" dirty="0">
                <a:solidFill>
                  <a:srgbClr val="404040"/>
                </a:solidFill>
                <a:latin typeface="Times New Roman" pitchFamily="18" charset="0"/>
                <a:cs typeface="Times New Roman" pitchFamily="18" charset="0"/>
              </a:rPr>
              <a:t> </a:t>
            </a:r>
            <a:r>
              <a:rPr sz="2100" b="1" dirty="0">
                <a:solidFill>
                  <a:srgbClr val="404040"/>
                </a:solidFill>
                <a:latin typeface="Times New Roman" pitchFamily="18" charset="0"/>
                <a:cs typeface="Times New Roman" pitchFamily="18" charset="0"/>
              </a:rPr>
              <a:t>8</a:t>
            </a:r>
            <a:r>
              <a:rPr sz="2100" b="1" spc="-45" dirty="0">
                <a:solidFill>
                  <a:srgbClr val="404040"/>
                </a:solidFill>
                <a:latin typeface="Times New Roman" pitchFamily="18" charset="0"/>
                <a:cs typeface="Times New Roman" pitchFamily="18" charset="0"/>
              </a:rPr>
              <a:t> </a:t>
            </a:r>
            <a:r>
              <a:rPr sz="2100" b="1" spc="-10" dirty="0">
                <a:solidFill>
                  <a:srgbClr val="404040"/>
                </a:solidFill>
                <a:latin typeface="Times New Roman" pitchFamily="18" charset="0"/>
                <a:cs typeface="Times New Roman" pitchFamily="18" charset="0"/>
              </a:rPr>
              <a:t>Papers)</a:t>
            </a:r>
            <a:endParaRPr sz="2100" dirty="0">
              <a:latin typeface="Times New Roman" pitchFamily="18" charset="0"/>
              <a:cs typeface="Times New Roman" pitchFamily="18" charset="0"/>
            </a:endParaRPr>
          </a:p>
          <a:p>
            <a:pPr>
              <a:lnSpc>
                <a:spcPct val="100000"/>
              </a:lnSpc>
              <a:spcBef>
                <a:spcPts val="1260"/>
              </a:spcBef>
              <a:tabLst>
                <a:tab pos="579755" algn="l"/>
              </a:tabLst>
            </a:pPr>
            <a:r>
              <a:rPr sz="2100" spc="200" dirty="0">
                <a:solidFill>
                  <a:srgbClr val="404040"/>
                </a:solidFill>
                <a:latin typeface="Times New Roman" pitchFamily="18" charset="0"/>
                <a:cs typeface="Times New Roman" pitchFamily="18" charset="0"/>
              </a:rPr>
              <a:t>✔</a:t>
            </a:r>
            <a:r>
              <a:rPr sz="2100" dirty="0">
                <a:solidFill>
                  <a:srgbClr val="404040"/>
                </a:solidFill>
                <a:latin typeface="Times New Roman" pitchFamily="18" charset="0"/>
                <a:cs typeface="Times New Roman" pitchFamily="18" charset="0"/>
              </a:rPr>
              <a:t>	</a:t>
            </a:r>
            <a:r>
              <a:rPr sz="2100" b="1" spc="-25" dirty="0">
                <a:solidFill>
                  <a:srgbClr val="404040"/>
                </a:solidFill>
                <a:latin typeface="Times New Roman" pitchFamily="18" charset="0"/>
                <a:cs typeface="Times New Roman" pitchFamily="18" charset="0"/>
              </a:rPr>
              <a:t>Technology/Algorithm/Methods</a:t>
            </a:r>
            <a:r>
              <a:rPr sz="2100" b="1" spc="95" dirty="0">
                <a:solidFill>
                  <a:srgbClr val="404040"/>
                </a:solidFill>
                <a:latin typeface="Times New Roman" pitchFamily="18" charset="0"/>
                <a:cs typeface="Times New Roman" pitchFamily="18" charset="0"/>
              </a:rPr>
              <a:t> </a:t>
            </a:r>
            <a:r>
              <a:rPr sz="2100" b="1" spc="-20" dirty="0">
                <a:solidFill>
                  <a:srgbClr val="404040"/>
                </a:solidFill>
                <a:latin typeface="Times New Roman" pitchFamily="18" charset="0"/>
                <a:cs typeface="Times New Roman" pitchFamily="18" charset="0"/>
              </a:rPr>
              <a:t>Used</a:t>
            </a:r>
            <a:r>
              <a:rPr lang="en-IN" sz="2100" dirty="0">
                <a:latin typeface="Times New Roman" pitchFamily="18" charset="0"/>
                <a:cs typeface="Times New Roman" pitchFamily="18" charset="0"/>
              </a:rPr>
              <a:t> </a:t>
            </a:r>
            <a:endParaRPr sz="2100" dirty="0">
              <a:latin typeface="Times New Roman" pitchFamily="18" charset="0"/>
              <a:cs typeface="Times New Roman" pitchFamily="18" charset="0"/>
            </a:endParaRPr>
          </a:p>
          <a:p>
            <a:pPr>
              <a:lnSpc>
                <a:spcPct val="100000"/>
              </a:lnSpc>
              <a:spcBef>
                <a:spcPts val="1260"/>
              </a:spcBef>
              <a:tabLst>
                <a:tab pos="579755" algn="l"/>
              </a:tabLst>
            </a:pPr>
            <a:r>
              <a:rPr sz="2100" spc="200" dirty="0">
                <a:solidFill>
                  <a:srgbClr val="404040"/>
                </a:solidFill>
                <a:latin typeface="Times New Roman" pitchFamily="18" charset="0"/>
                <a:cs typeface="Times New Roman" pitchFamily="18" charset="0"/>
              </a:rPr>
              <a:t>✔</a:t>
            </a:r>
            <a:r>
              <a:rPr sz="2100" dirty="0">
                <a:solidFill>
                  <a:srgbClr val="404040"/>
                </a:solidFill>
                <a:latin typeface="Times New Roman" pitchFamily="18" charset="0"/>
                <a:cs typeface="Times New Roman" pitchFamily="18" charset="0"/>
              </a:rPr>
              <a:t>	</a:t>
            </a:r>
            <a:r>
              <a:rPr sz="2100" b="1" spc="-10" dirty="0">
                <a:solidFill>
                  <a:srgbClr val="404040"/>
                </a:solidFill>
                <a:latin typeface="Times New Roman" pitchFamily="18" charset="0"/>
                <a:cs typeface="Times New Roman" pitchFamily="18" charset="0"/>
              </a:rPr>
              <a:t>Research</a:t>
            </a:r>
            <a:r>
              <a:rPr sz="2100" b="1" spc="-60" dirty="0">
                <a:solidFill>
                  <a:srgbClr val="404040"/>
                </a:solidFill>
                <a:latin typeface="Times New Roman" pitchFamily="18" charset="0"/>
                <a:cs typeface="Times New Roman" pitchFamily="18" charset="0"/>
              </a:rPr>
              <a:t> </a:t>
            </a:r>
            <a:r>
              <a:rPr sz="2100" b="1" spc="-25" dirty="0">
                <a:solidFill>
                  <a:srgbClr val="404040"/>
                </a:solidFill>
                <a:latin typeface="Times New Roman" pitchFamily="18" charset="0"/>
                <a:cs typeface="Times New Roman" pitchFamily="18" charset="0"/>
              </a:rPr>
              <a:t>gap</a:t>
            </a:r>
            <a:endParaRPr sz="2100" dirty="0">
              <a:latin typeface="Times New Roman" pitchFamily="18" charset="0"/>
              <a:cs typeface="Times New Roman" pitchFamily="18" charset="0"/>
            </a:endParaRPr>
          </a:p>
          <a:p>
            <a:pPr marL="579755" indent="-492125">
              <a:lnSpc>
                <a:spcPct val="100000"/>
              </a:lnSpc>
              <a:spcBef>
                <a:spcPts val="1260"/>
              </a:spcBef>
              <a:buFont typeface="Segoe UI Symbol"/>
              <a:buChar char="□"/>
              <a:tabLst>
                <a:tab pos="579755" algn="l"/>
              </a:tabLst>
            </a:pPr>
            <a:r>
              <a:rPr sz="2100" b="1" spc="-10" dirty="0">
                <a:solidFill>
                  <a:srgbClr val="404040"/>
                </a:solidFill>
                <a:latin typeface="Times New Roman" pitchFamily="18" charset="0"/>
                <a:cs typeface="Times New Roman" pitchFamily="18" charset="0"/>
              </a:rPr>
              <a:t>Objectives</a:t>
            </a:r>
            <a:endParaRPr sz="2100" dirty="0">
              <a:latin typeface="Times New Roman" pitchFamily="18" charset="0"/>
              <a:cs typeface="Times New Roman" pitchFamily="18" charset="0"/>
            </a:endParaRPr>
          </a:p>
          <a:p>
            <a:pPr marL="579755" indent="-492125">
              <a:lnSpc>
                <a:spcPct val="100000"/>
              </a:lnSpc>
              <a:spcBef>
                <a:spcPts val="1260"/>
              </a:spcBef>
              <a:buFont typeface="Segoe UI Symbol"/>
              <a:buChar char="□"/>
              <a:tabLst>
                <a:tab pos="579755" algn="l"/>
              </a:tabLst>
            </a:pPr>
            <a:r>
              <a:rPr sz="2100" b="1" dirty="0">
                <a:solidFill>
                  <a:srgbClr val="404040"/>
                </a:solidFill>
                <a:latin typeface="Times New Roman" pitchFamily="18" charset="0"/>
                <a:cs typeface="Times New Roman" pitchFamily="18" charset="0"/>
              </a:rPr>
              <a:t>Problem</a:t>
            </a:r>
            <a:r>
              <a:rPr sz="2100" b="1" spc="-125" dirty="0">
                <a:solidFill>
                  <a:srgbClr val="404040"/>
                </a:solidFill>
                <a:latin typeface="Times New Roman" pitchFamily="18" charset="0"/>
                <a:cs typeface="Times New Roman" pitchFamily="18" charset="0"/>
              </a:rPr>
              <a:t> </a:t>
            </a:r>
            <a:r>
              <a:rPr sz="2100" b="1" spc="-10" dirty="0">
                <a:solidFill>
                  <a:srgbClr val="404040"/>
                </a:solidFill>
                <a:latin typeface="Times New Roman" pitchFamily="18" charset="0"/>
                <a:cs typeface="Times New Roman" pitchFamily="18" charset="0"/>
              </a:rPr>
              <a:t>Statement</a:t>
            </a:r>
            <a:endParaRPr sz="2100" dirty="0">
              <a:latin typeface="Times New Roman" pitchFamily="18" charset="0"/>
              <a:cs typeface="Times New Roman" pitchFamily="18" charset="0"/>
            </a:endParaRPr>
          </a:p>
        </p:txBody>
      </p:sp>
      <p:sp>
        <p:nvSpPr>
          <p:cNvPr id="3" name="object 3"/>
          <p:cNvSpPr txBox="1">
            <a:spLocks noGrp="1"/>
          </p:cNvSpPr>
          <p:nvPr>
            <p:ph type="title"/>
          </p:nvPr>
        </p:nvSpPr>
        <p:spPr>
          <a:xfrm>
            <a:off x="247650" y="92075"/>
            <a:ext cx="11673205" cy="609141"/>
          </a:xfrm>
          <a:prstGeom prst="rect">
            <a:avLst/>
          </a:prstGeom>
          <a:solidFill>
            <a:srgbClr val="F4B39B"/>
          </a:solidFill>
          <a:ln w="12699">
            <a:solidFill>
              <a:srgbClr val="9B310D"/>
            </a:solidFill>
          </a:ln>
        </p:spPr>
        <p:txBody>
          <a:bodyPr vert="horz" wrap="square" lIns="0" tIns="54610" rIns="0" bIns="0" rtlCol="0">
            <a:spAutoFit/>
          </a:bodyPr>
          <a:lstStyle/>
          <a:p>
            <a:pPr algn="ctr">
              <a:lnSpc>
                <a:spcPct val="100000"/>
              </a:lnSpc>
              <a:spcBef>
                <a:spcPts val="430"/>
              </a:spcBef>
            </a:pPr>
            <a:r>
              <a:rPr sz="3600" spc="-335" dirty="0">
                <a:solidFill>
                  <a:srgbClr val="000000"/>
                </a:solidFill>
                <a:latin typeface="Times New Roman" pitchFamily="18" charset="0"/>
                <a:cs typeface="Times New Roman" pitchFamily="18" charset="0"/>
              </a:rPr>
              <a:t>Outline</a:t>
            </a:r>
            <a:endParaRPr sz="3600" dirty="0">
              <a:latin typeface="Times New Roman" pitchFamily="18" charset="0"/>
              <a:cs typeface="Times New Roman" pitchFamily="18" charset="0"/>
            </a:endParaRPr>
          </a:p>
        </p:txBody>
      </p:sp>
      <p:sp>
        <p:nvSpPr>
          <p:cNvPr id="4" name="object 4"/>
          <p:cNvSpPr/>
          <p:nvPr/>
        </p:nvSpPr>
        <p:spPr>
          <a:xfrm>
            <a:off x="195262" y="6210300"/>
            <a:ext cx="609600" cy="457200"/>
          </a:xfrm>
          <a:custGeom>
            <a:avLst/>
            <a:gdLst/>
            <a:ahLst/>
            <a:cxnLst/>
            <a:rect l="l" t="t" r="r" b="b"/>
            <a:pathLst>
              <a:path w="609600" h="457200">
                <a:moveTo>
                  <a:pt x="304799" y="457199"/>
                </a:moveTo>
                <a:lnTo>
                  <a:pt x="250011" y="453516"/>
                </a:lnTo>
                <a:lnTo>
                  <a:pt x="198445" y="442898"/>
                </a:lnTo>
                <a:lnTo>
                  <a:pt x="150961" y="425989"/>
                </a:lnTo>
                <a:lnTo>
                  <a:pt x="108421" y="403436"/>
                </a:lnTo>
                <a:lnTo>
                  <a:pt x="71685" y="375884"/>
                </a:lnTo>
                <a:lnTo>
                  <a:pt x="41614" y="343978"/>
                </a:lnTo>
                <a:lnTo>
                  <a:pt x="19069" y="308366"/>
                </a:lnTo>
                <a:lnTo>
                  <a:pt x="4910" y="269691"/>
                </a:lnTo>
                <a:lnTo>
                  <a:pt x="0" y="228599"/>
                </a:lnTo>
                <a:lnTo>
                  <a:pt x="4910" y="187508"/>
                </a:lnTo>
                <a:lnTo>
                  <a:pt x="19069" y="148833"/>
                </a:lnTo>
                <a:lnTo>
                  <a:pt x="41614" y="113221"/>
                </a:lnTo>
                <a:lnTo>
                  <a:pt x="71685" y="81315"/>
                </a:lnTo>
                <a:lnTo>
                  <a:pt x="108421" y="53763"/>
                </a:lnTo>
                <a:lnTo>
                  <a:pt x="150961" y="31210"/>
                </a:lnTo>
                <a:lnTo>
                  <a:pt x="198445" y="14301"/>
                </a:lnTo>
                <a:lnTo>
                  <a:pt x="250011" y="3683"/>
                </a:lnTo>
                <a:lnTo>
                  <a:pt x="304799" y="0"/>
                </a:lnTo>
                <a:lnTo>
                  <a:pt x="359588" y="3683"/>
                </a:lnTo>
                <a:lnTo>
                  <a:pt x="411154" y="14301"/>
                </a:lnTo>
                <a:lnTo>
                  <a:pt x="458638" y="31210"/>
                </a:lnTo>
                <a:lnTo>
                  <a:pt x="501178" y="53763"/>
                </a:lnTo>
                <a:lnTo>
                  <a:pt x="537914" y="81315"/>
                </a:lnTo>
                <a:lnTo>
                  <a:pt x="567985" y="113221"/>
                </a:lnTo>
                <a:lnTo>
                  <a:pt x="590530" y="148833"/>
                </a:lnTo>
                <a:lnTo>
                  <a:pt x="604689" y="187508"/>
                </a:lnTo>
                <a:lnTo>
                  <a:pt x="609599" y="228599"/>
                </a:lnTo>
                <a:lnTo>
                  <a:pt x="604689" y="269691"/>
                </a:lnTo>
                <a:lnTo>
                  <a:pt x="590530" y="308366"/>
                </a:lnTo>
                <a:lnTo>
                  <a:pt x="567985" y="343978"/>
                </a:lnTo>
                <a:lnTo>
                  <a:pt x="537914" y="375884"/>
                </a:lnTo>
                <a:lnTo>
                  <a:pt x="501178" y="403436"/>
                </a:lnTo>
                <a:lnTo>
                  <a:pt x="458638" y="425989"/>
                </a:lnTo>
                <a:lnTo>
                  <a:pt x="411154" y="442898"/>
                </a:lnTo>
                <a:lnTo>
                  <a:pt x="359588" y="453516"/>
                </a:lnTo>
                <a:lnTo>
                  <a:pt x="304799" y="457199"/>
                </a:lnTo>
                <a:close/>
              </a:path>
            </a:pathLst>
          </a:custGeom>
          <a:solidFill>
            <a:srgbClr val="D34817"/>
          </a:solid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4290">
              <a:lnSpc>
                <a:spcPct val="100000"/>
              </a:lnSpc>
              <a:spcBef>
                <a:spcPts val="50"/>
              </a:spcBef>
            </a:pPr>
            <a:fld id="{81D60167-4931-47E6-BA6A-407CBD079E47}" type="slidenum">
              <a:rPr spc="-50" dirty="0"/>
              <a:t>2</a:t>
            </a:fld>
            <a:endParaRPr spc="-50" dirty="0"/>
          </a:p>
        </p:txBody>
      </p:sp>
      <p:sp>
        <p:nvSpPr>
          <p:cNvPr id="6" name="object 6"/>
          <p:cNvSpPr txBox="1">
            <a:spLocks noGrp="1"/>
          </p:cNvSpPr>
          <p:nvPr>
            <p:ph type="ftr" sz="quarter" idx="5"/>
          </p:nvPr>
        </p:nvSpPr>
        <p:spPr>
          <a:prstGeom prst="rect">
            <a:avLst/>
          </a:prstGeom>
        </p:spPr>
        <p:txBody>
          <a:bodyPr vert="horz" wrap="square" lIns="0" tIns="2540" rIns="0" bIns="0" rtlCol="0">
            <a:spAutoFit/>
          </a:body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694" y="884999"/>
            <a:ext cx="11139170" cy="3385820"/>
          </a:xfrm>
          <a:prstGeom prst="rect">
            <a:avLst/>
          </a:prstGeom>
        </p:spPr>
        <p:txBody>
          <a:bodyPr vert="horz" wrap="square" lIns="0" tIns="172720" rIns="0" bIns="0" rtlCol="0">
            <a:spAutoFit/>
          </a:bodyPr>
          <a:lstStyle/>
          <a:p>
            <a:pPr marL="504825" indent="-492125">
              <a:lnSpc>
                <a:spcPct val="100000"/>
              </a:lnSpc>
              <a:spcBef>
                <a:spcPts val="1360"/>
              </a:spcBef>
              <a:buFont typeface="Segoe UI Symbol"/>
              <a:buChar char="□"/>
              <a:tabLst>
                <a:tab pos="504825" algn="l"/>
              </a:tabLst>
            </a:pPr>
            <a:r>
              <a:rPr sz="2100" b="1" dirty="0">
                <a:solidFill>
                  <a:srgbClr val="404040"/>
                </a:solidFill>
                <a:latin typeface="Times New Roman"/>
                <a:cs typeface="Times New Roman"/>
              </a:rPr>
              <a:t>Existing</a:t>
            </a:r>
            <a:r>
              <a:rPr sz="2100" b="1" spc="-55" dirty="0">
                <a:solidFill>
                  <a:srgbClr val="404040"/>
                </a:solidFill>
                <a:latin typeface="Times New Roman"/>
                <a:cs typeface="Times New Roman"/>
              </a:rPr>
              <a:t> </a:t>
            </a:r>
            <a:r>
              <a:rPr sz="2100" b="1" dirty="0">
                <a:solidFill>
                  <a:srgbClr val="404040"/>
                </a:solidFill>
                <a:latin typeface="Times New Roman"/>
                <a:cs typeface="Times New Roman"/>
              </a:rPr>
              <a:t>/Proposed</a:t>
            </a:r>
            <a:r>
              <a:rPr sz="2100" b="1" spc="-30" dirty="0">
                <a:solidFill>
                  <a:srgbClr val="404040"/>
                </a:solidFill>
                <a:latin typeface="Times New Roman"/>
                <a:cs typeface="Times New Roman"/>
              </a:rPr>
              <a:t> </a:t>
            </a:r>
            <a:r>
              <a:rPr sz="2100" b="1" dirty="0">
                <a:solidFill>
                  <a:srgbClr val="404040"/>
                </a:solidFill>
                <a:latin typeface="Times New Roman"/>
                <a:cs typeface="Times New Roman"/>
              </a:rPr>
              <a:t>System</a:t>
            </a:r>
            <a:r>
              <a:rPr sz="2100" b="1" spc="-130" dirty="0">
                <a:solidFill>
                  <a:srgbClr val="404040"/>
                </a:solidFill>
                <a:latin typeface="Times New Roman"/>
                <a:cs typeface="Times New Roman"/>
              </a:rPr>
              <a:t> </a:t>
            </a:r>
            <a:r>
              <a:rPr sz="2100" b="1" spc="-20" dirty="0">
                <a:solidFill>
                  <a:srgbClr val="404040"/>
                </a:solidFill>
                <a:latin typeface="Times New Roman"/>
                <a:cs typeface="Times New Roman"/>
              </a:rPr>
              <a:t>Architecture/Proposed</a:t>
            </a:r>
            <a:r>
              <a:rPr sz="2100" b="1" spc="-30" dirty="0">
                <a:solidFill>
                  <a:srgbClr val="404040"/>
                </a:solidFill>
                <a:latin typeface="Times New Roman"/>
                <a:cs typeface="Times New Roman"/>
              </a:rPr>
              <a:t> </a:t>
            </a:r>
            <a:r>
              <a:rPr sz="2100" b="1" dirty="0">
                <a:solidFill>
                  <a:srgbClr val="404040"/>
                </a:solidFill>
                <a:latin typeface="Times New Roman"/>
                <a:cs typeface="Times New Roman"/>
              </a:rPr>
              <a:t>Methodology</a:t>
            </a:r>
            <a:r>
              <a:rPr sz="2100" b="1" spc="-25" dirty="0">
                <a:solidFill>
                  <a:srgbClr val="404040"/>
                </a:solidFill>
                <a:latin typeface="Times New Roman"/>
                <a:cs typeface="Times New Roman"/>
              </a:rPr>
              <a:t> </a:t>
            </a:r>
            <a:r>
              <a:rPr sz="2100" b="1" dirty="0">
                <a:solidFill>
                  <a:srgbClr val="404040"/>
                </a:solidFill>
                <a:latin typeface="Times New Roman"/>
                <a:cs typeface="Times New Roman"/>
              </a:rPr>
              <a:t>/</a:t>
            </a:r>
            <a:r>
              <a:rPr sz="2100" b="1" spc="-30" dirty="0">
                <a:solidFill>
                  <a:srgbClr val="404040"/>
                </a:solidFill>
                <a:latin typeface="Times New Roman"/>
                <a:cs typeface="Times New Roman"/>
              </a:rPr>
              <a:t> </a:t>
            </a:r>
            <a:r>
              <a:rPr sz="2100" b="1" spc="-10" dirty="0">
                <a:solidFill>
                  <a:srgbClr val="404040"/>
                </a:solidFill>
                <a:latin typeface="Times New Roman"/>
                <a:cs typeface="Times New Roman"/>
              </a:rPr>
              <a:t>Prototype</a:t>
            </a:r>
            <a:r>
              <a:rPr sz="2100" b="1" spc="-30" dirty="0">
                <a:solidFill>
                  <a:srgbClr val="404040"/>
                </a:solidFill>
                <a:latin typeface="Times New Roman"/>
                <a:cs typeface="Times New Roman"/>
              </a:rPr>
              <a:t> </a:t>
            </a:r>
            <a:r>
              <a:rPr sz="2100" b="1" dirty="0">
                <a:solidFill>
                  <a:srgbClr val="404040"/>
                </a:solidFill>
                <a:latin typeface="Times New Roman"/>
                <a:cs typeface="Times New Roman"/>
              </a:rPr>
              <a:t>/</a:t>
            </a:r>
            <a:r>
              <a:rPr sz="2100" b="1" spc="-30" dirty="0">
                <a:solidFill>
                  <a:srgbClr val="404040"/>
                </a:solidFill>
                <a:latin typeface="Times New Roman"/>
                <a:cs typeface="Times New Roman"/>
              </a:rPr>
              <a:t> </a:t>
            </a:r>
            <a:r>
              <a:rPr sz="2100" b="1" dirty="0">
                <a:solidFill>
                  <a:srgbClr val="404040"/>
                </a:solidFill>
                <a:latin typeface="Times New Roman"/>
                <a:cs typeface="Times New Roman"/>
              </a:rPr>
              <a:t>Idea</a:t>
            </a:r>
            <a:r>
              <a:rPr sz="2100" b="1" spc="-25" dirty="0">
                <a:solidFill>
                  <a:srgbClr val="404040"/>
                </a:solidFill>
                <a:latin typeface="Times New Roman"/>
                <a:cs typeface="Times New Roman"/>
              </a:rPr>
              <a:t> </a:t>
            </a:r>
            <a:r>
              <a:rPr sz="2100" b="1" dirty="0">
                <a:solidFill>
                  <a:srgbClr val="404040"/>
                </a:solidFill>
                <a:latin typeface="Times New Roman"/>
                <a:cs typeface="Times New Roman"/>
              </a:rPr>
              <a:t>/</a:t>
            </a:r>
            <a:r>
              <a:rPr sz="2100" b="1" spc="-130" dirty="0">
                <a:solidFill>
                  <a:srgbClr val="404040"/>
                </a:solidFill>
                <a:latin typeface="Times New Roman"/>
                <a:cs typeface="Times New Roman"/>
              </a:rPr>
              <a:t> </a:t>
            </a:r>
            <a:r>
              <a:rPr sz="2100" b="1" spc="-10" dirty="0">
                <a:solidFill>
                  <a:srgbClr val="404040"/>
                </a:solidFill>
                <a:latin typeface="Times New Roman"/>
                <a:cs typeface="Times New Roman"/>
              </a:rPr>
              <a:t>Algorithm</a:t>
            </a:r>
            <a:endParaRPr sz="2100" dirty="0">
              <a:latin typeface="Times New Roman"/>
              <a:cs typeface="Times New Roman"/>
            </a:endParaRPr>
          </a:p>
          <a:p>
            <a:pPr marL="504825" indent="-492125">
              <a:lnSpc>
                <a:spcPct val="100000"/>
              </a:lnSpc>
              <a:spcBef>
                <a:spcPts val="1260"/>
              </a:spcBef>
              <a:buFont typeface="Segoe UI Symbol"/>
              <a:buChar char="□"/>
              <a:tabLst>
                <a:tab pos="504825" algn="l"/>
              </a:tabLst>
            </a:pPr>
            <a:r>
              <a:rPr sz="2100" b="1" dirty="0">
                <a:solidFill>
                  <a:srgbClr val="404040"/>
                </a:solidFill>
                <a:latin typeface="Times New Roman"/>
                <a:cs typeface="Times New Roman"/>
              </a:rPr>
              <a:t>DFD</a:t>
            </a:r>
            <a:r>
              <a:rPr sz="2100" b="1" spc="-50" dirty="0">
                <a:solidFill>
                  <a:srgbClr val="404040"/>
                </a:solidFill>
                <a:latin typeface="Times New Roman"/>
                <a:cs typeface="Times New Roman"/>
              </a:rPr>
              <a:t> </a:t>
            </a:r>
            <a:r>
              <a:rPr sz="2100" b="1" dirty="0">
                <a:solidFill>
                  <a:srgbClr val="404040"/>
                </a:solidFill>
                <a:latin typeface="Times New Roman"/>
                <a:cs typeface="Times New Roman"/>
              </a:rPr>
              <a:t>(Level</a:t>
            </a:r>
            <a:r>
              <a:rPr sz="2100" b="1" spc="-50" dirty="0">
                <a:solidFill>
                  <a:srgbClr val="404040"/>
                </a:solidFill>
                <a:latin typeface="Times New Roman"/>
                <a:cs typeface="Times New Roman"/>
              </a:rPr>
              <a:t> </a:t>
            </a:r>
            <a:r>
              <a:rPr sz="2100" b="1" dirty="0">
                <a:solidFill>
                  <a:srgbClr val="404040"/>
                </a:solidFill>
                <a:latin typeface="Times New Roman"/>
                <a:cs typeface="Times New Roman"/>
              </a:rPr>
              <a:t>0/1/2)</a:t>
            </a:r>
            <a:r>
              <a:rPr sz="2100" b="1" spc="-40" dirty="0">
                <a:solidFill>
                  <a:srgbClr val="404040"/>
                </a:solidFill>
                <a:latin typeface="Times New Roman"/>
                <a:cs typeface="Times New Roman"/>
              </a:rPr>
              <a:t> </a:t>
            </a:r>
            <a:r>
              <a:rPr sz="2100" b="1" dirty="0">
                <a:solidFill>
                  <a:srgbClr val="404040"/>
                </a:solidFill>
                <a:latin typeface="Times New Roman"/>
                <a:cs typeface="Times New Roman"/>
              </a:rPr>
              <a:t>Or</a:t>
            </a:r>
            <a:r>
              <a:rPr sz="2100" b="1" spc="-80" dirty="0">
                <a:solidFill>
                  <a:srgbClr val="404040"/>
                </a:solidFill>
                <a:latin typeface="Times New Roman"/>
                <a:cs typeface="Times New Roman"/>
              </a:rPr>
              <a:t> </a:t>
            </a:r>
            <a:r>
              <a:rPr sz="2100" b="1" dirty="0">
                <a:solidFill>
                  <a:srgbClr val="404040"/>
                </a:solidFill>
                <a:latin typeface="Times New Roman"/>
                <a:cs typeface="Times New Roman"/>
              </a:rPr>
              <a:t>ER</a:t>
            </a:r>
            <a:r>
              <a:rPr sz="2100" b="1" spc="-50" dirty="0">
                <a:solidFill>
                  <a:srgbClr val="404040"/>
                </a:solidFill>
                <a:latin typeface="Times New Roman"/>
                <a:cs typeface="Times New Roman"/>
              </a:rPr>
              <a:t> </a:t>
            </a:r>
            <a:r>
              <a:rPr sz="2100" b="1" dirty="0">
                <a:solidFill>
                  <a:srgbClr val="404040"/>
                </a:solidFill>
                <a:latin typeface="Times New Roman"/>
                <a:cs typeface="Times New Roman"/>
              </a:rPr>
              <a:t>Diagrams</a:t>
            </a:r>
            <a:r>
              <a:rPr sz="2100" b="1" spc="-50" dirty="0">
                <a:solidFill>
                  <a:srgbClr val="404040"/>
                </a:solidFill>
                <a:latin typeface="Times New Roman"/>
                <a:cs typeface="Times New Roman"/>
              </a:rPr>
              <a:t> </a:t>
            </a:r>
            <a:r>
              <a:rPr sz="2100" b="1" dirty="0">
                <a:solidFill>
                  <a:srgbClr val="404040"/>
                </a:solidFill>
                <a:latin typeface="Times New Roman"/>
                <a:cs typeface="Times New Roman"/>
              </a:rPr>
              <a:t>(Existing</a:t>
            </a:r>
            <a:r>
              <a:rPr sz="2100" b="1" spc="-40" dirty="0">
                <a:solidFill>
                  <a:srgbClr val="404040"/>
                </a:solidFill>
                <a:latin typeface="Times New Roman"/>
                <a:cs typeface="Times New Roman"/>
              </a:rPr>
              <a:t> </a:t>
            </a:r>
            <a:r>
              <a:rPr sz="2100" b="1" spc="-10" dirty="0">
                <a:solidFill>
                  <a:srgbClr val="404040"/>
                </a:solidFill>
                <a:latin typeface="Times New Roman"/>
                <a:cs typeface="Times New Roman"/>
              </a:rPr>
              <a:t>Paper/Proposed</a:t>
            </a:r>
            <a:r>
              <a:rPr sz="2100" b="1" spc="-50" dirty="0">
                <a:solidFill>
                  <a:srgbClr val="404040"/>
                </a:solidFill>
                <a:latin typeface="Times New Roman"/>
                <a:cs typeface="Times New Roman"/>
              </a:rPr>
              <a:t> </a:t>
            </a:r>
            <a:r>
              <a:rPr sz="2100" b="1" spc="-10" dirty="0">
                <a:solidFill>
                  <a:srgbClr val="404040"/>
                </a:solidFill>
                <a:latin typeface="Times New Roman"/>
                <a:cs typeface="Times New Roman"/>
              </a:rPr>
              <a:t>System)</a:t>
            </a:r>
            <a:endParaRPr sz="2100" dirty="0">
              <a:latin typeface="Times New Roman"/>
              <a:cs typeface="Times New Roman"/>
            </a:endParaRPr>
          </a:p>
          <a:p>
            <a:pPr marL="504825" indent="-492125">
              <a:lnSpc>
                <a:spcPct val="100000"/>
              </a:lnSpc>
              <a:spcBef>
                <a:spcPts val="1260"/>
              </a:spcBef>
              <a:buFont typeface="Segoe UI Symbol"/>
              <a:buChar char="□"/>
              <a:tabLst>
                <a:tab pos="504825" algn="l"/>
              </a:tabLst>
            </a:pPr>
            <a:r>
              <a:rPr sz="2100" b="1" dirty="0">
                <a:solidFill>
                  <a:srgbClr val="404040"/>
                </a:solidFill>
                <a:latin typeface="Times New Roman"/>
                <a:cs typeface="Times New Roman"/>
              </a:rPr>
              <a:t>Results</a:t>
            </a:r>
            <a:r>
              <a:rPr sz="2100" b="1" spc="-30" dirty="0">
                <a:solidFill>
                  <a:srgbClr val="404040"/>
                </a:solidFill>
                <a:latin typeface="Times New Roman"/>
                <a:cs typeface="Times New Roman"/>
              </a:rPr>
              <a:t> </a:t>
            </a:r>
            <a:r>
              <a:rPr sz="2100" b="1" dirty="0">
                <a:solidFill>
                  <a:srgbClr val="404040"/>
                </a:solidFill>
                <a:latin typeface="Times New Roman"/>
                <a:cs typeface="Times New Roman"/>
              </a:rPr>
              <a:t>(Existing</a:t>
            </a:r>
            <a:r>
              <a:rPr sz="2100" b="1" spc="-25" dirty="0">
                <a:solidFill>
                  <a:srgbClr val="404040"/>
                </a:solidFill>
                <a:latin typeface="Times New Roman"/>
                <a:cs typeface="Times New Roman"/>
              </a:rPr>
              <a:t> </a:t>
            </a:r>
            <a:r>
              <a:rPr sz="2100" b="1" spc="-10" dirty="0">
                <a:solidFill>
                  <a:srgbClr val="404040"/>
                </a:solidFill>
                <a:latin typeface="Times New Roman"/>
                <a:cs typeface="Times New Roman"/>
              </a:rPr>
              <a:t>Paper/Proposed</a:t>
            </a:r>
            <a:r>
              <a:rPr sz="2100" b="1" spc="-30" dirty="0">
                <a:solidFill>
                  <a:srgbClr val="404040"/>
                </a:solidFill>
                <a:latin typeface="Times New Roman"/>
                <a:cs typeface="Times New Roman"/>
              </a:rPr>
              <a:t> </a:t>
            </a:r>
            <a:r>
              <a:rPr sz="2100" b="1" spc="-10" dirty="0">
                <a:solidFill>
                  <a:srgbClr val="404040"/>
                </a:solidFill>
                <a:latin typeface="Times New Roman"/>
                <a:cs typeface="Times New Roman"/>
              </a:rPr>
              <a:t>System)</a:t>
            </a:r>
            <a:endParaRPr sz="2100" dirty="0">
              <a:latin typeface="Times New Roman"/>
              <a:cs typeface="Times New Roman"/>
            </a:endParaRPr>
          </a:p>
          <a:p>
            <a:pPr marL="504825" indent="-492125">
              <a:lnSpc>
                <a:spcPct val="100000"/>
              </a:lnSpc>
              <a:spcBef>
                <a:spcPts val="1260"/>
              </a:spcBef>
              <a:buFont typeface="Segoe UI Symbol"/>
              <a:buChar char="□"/>
              <a:tabLst>
                <a:tab pos="504825" algn="l"/>
              </a:tabLst>
            </a:pPr>
            <a:r>
              <a:rPr sz="2100" b="1" spc="-10" dirty="0">
                <a:solidFill>
                  <a:srgbClr val="404040"/>
                </a:solidFill>
                <a:latin typeface="Times New Roman"/>
                <a:cs typeface="Times New Roman"/>
              </a:rPr>
              <a:t>Applications</a:t>
            </a:r>
            <a:endParaRPr sz="2100" dirty="0">
              <a:latin typeface="Times New Roman"/>
              <a:cs typeface="Times New Roman"/>
            </a:endParaRPr>
          </a:p>
          <a:p>
            <a:pPr marL="504825" indent="-492125">
              <a:lnSpc>
                <a:spcPct val="100000"/>
              </a:lnSpc>
              <a:spcBef>
                <a:spcPts val="1260"/>
              </a:spcBef>
              <a:buFont typeface="Segoe UI Symbol"/>
              <a:buChar char="□"/>
              <a:tabLst>
                <a:tab pos="504825" algn="l"/>
              </a:tabLst>
            </a:pPr>
            <a:r>
              <a:rPr sz="2100" b="1" spc="-10" dirty="0">
                <a:solidFill>
                  <a:srgbClr val="404040"/>
                </a:solidFill>
                <a:latin typeface="Times New Roman"/>
                <a:cs typeface="Times New Roman"/>
              </a:rPr>
              <a:t>Conclusion</a:t>
            </a:r>
            <a:endParaRPr sz="2100" dirty="0">
              <a:latin typeface="Times New Roman"/>
              <a:cs typeface="Times New Roman"/>
            </a:endParaRPr>
          </a:p>
          <a:p>
            <a:pPr marL="504825" indent="-492125">
              <a:lnSpc>
                <a:spcPct val="100000"/>
              </a:lnSpc>
              <a:spcBef>
                <a:spcPts val="1260"/>
              </a:spcBef>
              <a:buFont typeface="Segoe UI Symbol"/>
              <a:buChar char="□"/>
              <a:tabLst>
                <a:tab pos="504825" algn="l"/>
              </a:tabLst>
            </a:pPr>
            <a:r>
              <a:rPr sz="2100" b="1" dirty="0">
                <a:solidFill>
                  <a:srgbClr val="404040"/>
                </a:solidFill>
                <a:latin typeface="Times New Roman"/>
                <a:cs typeface="Times New Roman"/>
              </a:rPr>
              <a:t>Future</a:t>
            </a:r>
            <a:r>
              <a:rPr sz="2100" b="1" spc="-75" dirty="0">
                <a:solidFill>
                  <a:srgbClr val="404040"/>
                </a:solidFill>
                <a:latin typeface="Times New Roman"/>
                <a:cs typeface="Times New Roman"/>
              </a:rPr>
              <a:t> </a:t>
            </a:r>
            <a:r>
              <a:rPr sz="2100" b="1" spc="-10" dirty="0">
                <a:solidFill>
                  <a:srgbClr val="404040"/>
                </a:solidFill>
                <a:latin typeface="Times New Roman"/>
                <a:cs typeface="Times New Roman"/>
              </a:rPr>
              <a:t>scope</a:t>
            </a:r>
            <a:endParaRPr sz="2100" dirty="0">
              <a:latin typeface="Times New Roman"/>
              <a:cs typeface="Times New Roman"/>
            </a:endParaRPr>
          </a:p>
          <a:p>
            <a:pPr marL="504825" indent="-492125">
              <a:lnSpc>
                <a:spcPct val="100000"/>
              </a:lnSpc>
              <a:spcBef>
                <a:spcPts val="1260"/>
              </a:spcBef>
              <a:buFont typeface="Segoe UI Symbol"/>
              <a:buChar char="□"/>
              <a:tabLst>
                <a:tab pos="504825" algn="l"/>
              </a:tabLst>
            </a:pPr>
            <a:r>
              <a:rPr sz="2100" b="1" spc="-10" dirty="0">
                <a:solidFill>
                  <a:srgbClr val="404040"/>
                </a:solidFill>
                <a:latin typeface="Times New Roman"/>
                <a:cs typeface="Times New Roman"/>
              </a:rPr>
              <a:t>Reference</a:t>
            </a:r>
            <a:endParaRPr sz="2100" dirty="0">
              <a:latin typeface="Times New Roman"/>
              <a:cs typeface="Times New Roman"/>
            </a:endParaRPr>
          </a:p>
        </p:txBody>
      </p:sp>
      <p:sp>
        <p:nvSpPr>
          <p:cNvPr id="3" name="object 3"/>
          <p:cNvSpPr txBox="1">
            <a:spLocks noGrp="1"/>
          </p:cNvSpPr>
          <p:nvPr>
            <p:ph type="title"/>
          </p:nvPr>
        </p:nvSpPr>
        <p:spPr>
          <a:xfrm>
            <a:off x="247650" y="92075"/>
            <a:ext cx="11673205" cy="609141"/>
          </a:xfrm>
          <a:prstGeom prst="rect">
            <a:avLst/>
          </a:prstGeom>
          <a:solidFill>
            <a:srgbClr val="F4B39B"/>
          </a:solidFill>
          <a:ln w="12699">
            <a:solidFill>
              <a:srgbClr val="9B310D"/>
            </a:solidFill>
          </a:ln>
        </p:spPr>
        <p:txBody>
          <a:bodyPr vert="horz" wrap="square" lIns="0" tIns="54610" rIns="0" bIns="0" rtlCol="0">
            <a:spAutoFit/>
          </a:bodyPr>
          <a:lstStyle/>
          <a:p>
            <a:pPr algn="ctr">
              <a:lnSpc>
                <a:spcPct val="100000"/>
              </a:lnSpc>
              <a:spcBef>
                <a:spcPts val="430"/>
              </a:spcBef>
            </a:pPr>
            <a:r>
              <a:rPr sz="3600" spc="-335" dirty="0">
                <a:solidFill>
                  <a:srgbClr val="000000"/>
                </a:solidFill>
                <a:latin typeface="Times New Roman" pitchFamily="18" charset="0"/>
                <a:cs typeface="Times New Roman" pitchFamily="18" charset="0"/>
              </a:rPr>
              <a:t>Outline</a:t>
            </a:r>
            <a:endParaRPr sz="3600" dirty="0">
              <a:latin typeface="Times New Roman" pitchFamily="18" charset="0"/>
              <a:cs typeface="Times New Roman" pitchFamily="18" charset="0"/>
            </a:endParaRPr>
          </a:p>
        </p:txBody>
      </p:sp>
      <p:sp>
        <p:nvSpPr>
          <p:cNvPr id="4" name="object 4"/>
          <p:cNvSpPr/>
          <p:nvPr/>
        </p:nvSpPr>
        <p:spPr>
          <a:xfrm>
            <a:off x="195262" y="6210300"/>
            <a:ext cx="609600" cy="457200"/>
          </a:xfrm>
          <a:custGeom>
            <a:avLst/>
            <a:gdLst/>
            <a:ahLst/>
            <a:cxnLst/>
            <a:rect l="l" t="t" r="r" b="b"/>
            <a:pathLst>
              <a:path w="609600" h="457200">
                <a:moveTo>
                  <a:pt x="304799" y="457199"/>
                </a:moveTo>
                <a:lnTo>
                  <a:pt x="250011" y="453516"/>
                </a:lnTo>
                <a:lnTo>
                  <a:pt x="198445" y="442898"/>
                </a:lnTo>
                <a:lnTo>
                  <a:pt x="150961" y="425989"/>
                </a:lnTo>
                <a:lnTo>
                  <a:pt x="108421" y="403436"/>
                </a:lnTo>
                <a:lnTo>
                  <a:pt x="71685" y="375884"/>
                </a:lnTo>
                <a:lnTo>
                  <a:pt x="41614" y="343978"/>
                </a:lnTo>
                <a:lnTo>
                  <a:pt x="19069" y="308366"/>
                </a:lnTo>
                <a:lnTo>
                  <a:pt x="4910" y="269691"/>
                </a:lnTo>
                <a:lnTo>
                  <a:pt x="0" y="228599"/>
                </a:lnTo>
                <a:lnTo>
                  <a:pt x="4910" y="187508"/>
                </a:lnTo>
                <a:lnTo>
                  <a:pt x="19069" y="148833"/>
                </a:lnTo>
                <a:lnTo>
                  <a:pt x="41614" y="113221"/>
                </a:lnTo>
                <a:lnTo>
                  <a:pt x="71685" y="81315"/>
                </a:lnTo>
                <a:lnTo>
                  <a:pt x="108421" y="53763"/>
                </a:lnTo>
                <a:lnTo>
                  <a:pt x="150961" y="31210"/>
                </a:lnTo>
                <a:lnTo>
                  <a:pt x="198445" y="14301"/>
                </a:lnTo>
                <a:lnTo>
                  <a:pt x="250011" y="3683"/>
                </a:lnTo>
                <a:lnTo>
                  <a:pt x="304799" y="0"/>
                </a:lnTo>
                <a:lnTo>
                  <a:pt x="359588" y="3683"/>
                </a:lnTo>
                <a:lnTo>
                  <a:pt x="411154" y="14301"/>
                </a:lnTo>
                <a:lnTo>
                  <a:pt x="458638" y="31210"/>
                </a:lnTo>
                <a:lnTo>
                  <a:pt x="501178" y="53763"/>
                </a:lnTo>
                <a:lnTo>
                  <a:pt x="537914" y="81315"/>
                </a:lnTo>
                <a:lnTo>
                  <a:pt x="567985" y="113221"/>
                </a:lnTo>
                <a:lnTo>
                  <a:pt x="590530" y="148833"/>
                </a:lnTo>
                <a:lnTo>
                  <a:pt x="604689" y="187508"/>
                </a:lnTo>
                <a:lnTo>
                  <a:pt x="609599" y="228599"/>
                </a:lnTo>
                <a:lnTo>
                  <a:pt x="604689" y="269691"/>
                </a:lnTo>
                <a:lnTo>
                  <a:pt x="590530" y="308366"/>
                </a:lnTo>
                <a:lnTo>
                  <a:pt x="567985" y="343978"/>
                </a:lnTo>
                <a:lnTo>
                  <a:pt x="537914" y="375884"/>
                </a:lnTo>
                <a:lnTo>
                  <a:pt x="501178" y="403436"/>
                </a:lnTo>
                <a:lnTo>
                  <a:pt x="458638" y="425989"/>
                </a:lnTo>
                <a:lnTo>
                  <a:pt x="411154" y="442898"/>
                </a:lnTo>
                <a:lnTo>
                  <a:pt x="359588" y="453516"/>
                </a:lnTo>
                <a:lnTo>
                  <a:pt x="304799" y="457199"/>
                </a:lnTo>
                <a:close/>
              </a:path>
            </a:pathLst>
          </a:custGeom>
          <a:solidFill>
            <a:srgbClr val="D34817"/>
          </a:solid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4290">
              <a:lnSpc>
                <a:spcPct val="100000"/>
              </a:lnSpc>
              <a:spcBef>
                <a:spcPts val="50"/>
              </a:spcBef>
            </a:pPr>
            <a:fld id="{81D60167-4931-47E6-BA6A-407CBD079E47}" type="slidenum">
              <a:rPr spc="-50" dirty="0"/>
              <a:t>3</a:t>
            </a:fld>
            <a:endParaRPr spc="-50" dirty="0"/>
          </a:p>
        </p:txBody>
      </p:sp>
      <p:sp>
        <p:nvSpPr>
          <p:cNvPr id="6" name="object 6"/>
          <p:cNvSpPr txBox="1">
            <a:spLocks noGrp="1"/>
          </p:cNvSpPr>
          <p:nvPr>
            <p:ph type="ftr" sz="quarter" idx="5"/>
          </p:nvPr>
        </p:nvSpPr>
        <p:spPr>
          <a:prstGeom prst="rect">
            <a:avLst/>
          </a:prstGeom>
        </p:spPr>
        <p:txBody>
          <a:bodyPr vert="horz" wrap="square" lIns="0" tIns="2540" rIns="0" bIns="0" rtlCol="0">
            <a:spAutoFit/>
          </a:bodyPr>
          <a:lstStyle/>
          <a:p>
            <a:pPr marL="12700">
              <a:lnSpc>
                <a:spcPct val="100000"/>
              </a:lnSpc>
              <a:spcBef>
                <a:spcPts val="20"/>
              </a:spcBef>
            </a:pPr>
            <a:r>
              <a:rPr spc="-120" dirty="0"/>
              <a:t>Department</a:t>
            </a:r>
            <a:r>
              <a:rPr spc="-25" dirty="0"/>
              <a:t> </a:t>
            </a:r>
            <a:r>
              <a:rPr spc="-90" dirty="0"/>
              <a:t>of</a:t>
            </a:r>
            <a:r>
              <a:rPr spc="-20" dirty="0"/>
              <a:t> </a:t>
            </a:r>
            <a:r>
              <a:rPr spc="-130" dirty="0"/>
              <a:t>Computer</a:t>
            </a:r>
            <a:r>
              <a:rPr spc="-25" dirty="0"/>
              <a:t> </a:t>
            </a:r>
            <a:r>
              <a:rPr spc="-114" dirty="0"/>
              <a:t>Engineering</a:t>
            </a:r>
            <a:r>
              <a:rPr spc="-20" dirty="0"/>
              <a:t> </a:t>
            </a:r>
            <a:r>
              <a:rPr spc="-65" dirty="0"/>
              <a:t>|</a:t>
            </a:r>
            <a:r>
              <a:rPr spc="-30" dirty="0"/>
              <a:t> </a:t>
            </a:r>
            <a:r>
              <a:rPr spc="-130" dirty="0"/>
              <a:t>PVG’s</a:t>
            </a:r>
            <a:r>
              <a:rPr spc="-20" dirty="0"/>
              <a:t> </a:t>
            </a:r>
            <a:r>
              <a:rPr spc="-165" dirty="0"/>
              <a:t>COE&amp;SSDIOM</a:t>
            </a:r>
            <a:r>
              <a:rPr spc="-20" dirty="0"/>
              <a:t> </a:t>
            </a:r>
            <a:r>
              <a:rPr spc="-60" dirty="0"/>
              <a:t>Nashik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p:nvPr/>
        </p:nvSpPr>
        <p:spPr>
          <a:xfrm>
            <a:off x="266700" y="787401"/>
            <a:ext cx="11653837" cy="5535612"/>
          </a:xfrm>
          <a:prstGeom prst="rect">
            <a:avLst/>
          </a:prstGeom>
          <a:noFill/>
          <a:ln>
            <a:noFill/>
          </a:ln>
        </p:spPr>
        <p:txBody>
          <a:bodyPr spcFirstLastPara="1" wrap="square" lIns="91425" tIns="45700" rIns="91425" bIns="45700" anchor="t" anchorCtr="0">
            <a:noAutofit/>
          </a:bodyPr>
          <a:lstStyle/>
          <a:p>
            <a:pPr marL="342900" marR="0" lvl="0" indent="-342900" algn="l" rtl="0">
              <a:lnSpc>
                <a:spcPct val="85000"/>
              </a:lnSpc>
              <a:spcBef>
                <a:spcPts val="0"/>
              </a:spcBef>
              <a:spcAft>
                <a:spcPts val="0"/>
              </a:spcAft>
              <a:buClr>
                <a:schemeClr val="dk1"/>
              </a:buClr>
              <a:buSzPts val="2100"/>
              <a:buFont typeface="Arial" panose="020B0604020202020204" pitchFamily="34" charset="0"/>
              <a:buChar char="•"/>
            </a:pPr>
            <a:endParaRPr sz="2100" b="1" i="0" u="none" dirty="0">
              <a:solidFill>
                <a:srgbClr val="404040"/>
              </a:solidFill>
              <a:latin typeface="+mj-lt"/>
              <a:ea typeface="Times New Roman" panose="02020603050405020304"/>
              <a:cs typeface="Times New Roman" panose="02020603050405020304"/>
              <a:sym typeface="Times New Roman" panose="02020603050405020304"/>
            </a:endParaRPr>
          </a:p>
          <a:p>
            <a:pPr marL="342900" indent="-342900" algn="just">
              <a:buFont typeface="Arial" pitchFamily="34" charset="0"/>
              <a:buChar char="•"/>
            </a:pPr>
            <a:r>
              <a:rPr lang="en-US" sz="2000" dirty="0">
                <a:latin typeface="Times New Roman" panose="02020603050405020304" pitchFamily="18" charset="0"/>
                <a:cs typeface="Times New Roman" panose="02020603050405020304" pitchFamily="18" charset="0"/>
              </a:rPr>
              <a:t>As</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websites</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grow</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popularity,</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they</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start</a:t>
            </a:r>
            <a:r>
              <a:rPr lang="en-US" sz="2000" spc="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handling</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more</a:t>
            </a:r>
            <a:r>
              <a:rPr lang="en-US" sz="2000" spc="114"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users</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way</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more</a:t>
            </a:r>
            <a:r>
              <a:rPr lang="en-US" sz="2000" spc="114"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data.</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Big</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platforms</a:t>
            </a:r>
            <a:r>
              <a:rPr lang="en-US" sz="2000" spc="1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deal</a:t>
            </a:r>
            <a:r>
              <a:rPr lang="en-US" sz="2000" spc="2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with</a:t>
            </a:r>
            <a:r>
              <a:rPr lang="en-US" sz="2000" spc="2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hundreds</a:t>
            </a:r>
            <a:r>
              <a:rPr lang="en-US" sz="2000" spc="2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millions</a:t>
            </a:r>
            <a:r>
              <a:rPr lang="en-US" sz="2000" spc="2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2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users,</a:t>
            </a:r>
            <a:r>
              <a:rPr lang="en-US" sz="2000" spc="254"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which</a:t>
            </a:r>
            <a:r>
              <a:rPr lang="en-US" sz="2000" spc="2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makes</a:t>
            </a:r>
            <a:r>
              <a:rPr lang="en-US" sz="2000" spc="254"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storing</a:t>
            </a:r>
            <a:r>
              <a:rPr lang="en-US" sz="2000" b="1" spc="26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all</a:t>
            </a:r>
            <a:r>
              <a:rPr lang="en-US" sz="2000" b="1" spc="25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that</a:t>
            </a:r>
            <a:r>
              <a:rPr lang="en-US" sz="2000" b="1" spc="254"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information</a:t>
            </a:r>
            <a:r>
              <a:rPr lang="en-US" sz="2000" b="1" spc="26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a:t>
            </a:r>
            <a:r>
              <a:rPr lang="en-US" sz="2000" b="1" spc="254"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serious </a:t>
            </a:r>
            <a:r>
              <a:rPr lang="en-US" sz="2000" b="1" dirty="0">
                <a:latin typeface="Times New Roman" panose="02020603050405020304" pitchFamily="18" charset="0"/>
                <a:cs typeface="Times New Roman" panose="02020603050405020304" pitchFamily="18" charset="0"/>
              </a:rPr>
              <a:t>challenge</a:t>
            </a:r>
            <a:r>
              <a:rPr lang="en-US" sz="2000" dirty="0">
                <a:latin typeface="Times New Roman" panose="02020603050405020304" pitchFamily="18" charset="0"/>
                <a:cs typeface="Times New Roman" panose="02020603050405020304" pitchFamily="18" charset="0"/>
              </a:rPr>
              <a:t>.</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keep</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things</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smooth</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scalable, </a:t>
            </a:r>
            <a:r>
              <a:rPr lang="en-US" sz="2000" b="1" dirty="0">
                <a:latin typeface="Times New Roman" panose="02020603050405020304" pitchFamily="18" charset="0"/>
                <a:cs typeface="Times New Roman" panose="02020603050405020304" pitchFamily="18" charset="0"/>
              </a:rPr>
              <a:t>many</a:t>
            </a:r>
            <a:r>
              <a:rPr lang="en-US" sz="2000" b="1" spc="-2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sites</a:t>
            </a:r>
            <a:r>
              <a:rPr lang="en-US" sz="2000" b="1" spc="-1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now</a:t>
            </a:r>
            <a:r>
              <a:rPr lang="en-US" sz="2000" b="1" spc="-6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rely on</a:t>
            </a:r>
            <a:r>
              <a:rPr lang="en-US" sz="2000" b="1" spc="-5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cloud</a:t>
            </a:r>
            <a:r>
              <a:rPr lang="en-US" sz="2000" b="1" spc="-2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storage</a:t>
            </a:r>
            <a:r>
              <a:rPr lang="en-US" sz="2000" spc="-10" dirty="0">
                <a:latin typeface="Times New Roman" panose="02020603050405020304" pitchFamily="18" charset="0"/>
                <a:cs typeface="Times New Roman" panose="02020603050405020304" pitchFamily="18" charset="0"/>
              </a:rPr>
              <a:t>.</a:t>
            </a:r>
            <a:endParaRPr lang="en-US" sz="2000" dirty="0">
              <a:latin typeface="Times New Roman" pitchFamily="18" charset="0"/>
              <a:cs typeface="Times New Roman" pitchFamily="18" charset="0"/>
            </a:endParaRPr>
          </a:p>
          <a:p>
            <a:pPr marL="356870" indent="-344170">
              <a:lnSpc>
                <a:spcPts val="2330"/>
              </a:lnSpc>
              <a:spcBef>
                <a:spcPts val="1755"/>
              </a:spcBef>
              <a:buFont typeface="Microsoft Sans Serif"/>
              <a:buChar char="•"/>
              <a:tabLst>
                <a:tab pos="356870" algn="l"/>
              </a:tabLst>
            </a:pPr>
            <a:r>
              <a:rPr lang="en-US" sz="2000" dirty="0">
                <a:solidFill>
                  <a:srgbClr val="404040"/>
                </a:solidFill>
                <a:latin typeface="Times New Roman" panose="02020603050405020304" pitchFamily="18" charset="0"/>
                <a:cs typeface="Times New Roman" panose="02020603050405020304" pitchFamily="18" charset="0"/>
              </a:rPr>
              <a:t>This</a:t>
            </a:r>
            <a:r>
              <a:rPr lang="en-US" sz="2000" spc="14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Cloud</a:t>
            </a:r>
            <a:r>
              <a:rPr lang="en-US" sz="2000" spc="13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Storage</a:t>
            </a:r>
            <a:r>
              <a:rPr lang="en-US" sz="2000" spc="15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help</a:t>
            </a:r>
            <a:r>
              <a:rPr lang="en-US" sz="2000" spc="15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us</a:t>
            </a:r>
            <a:r>
              <a:rPr lang="en-US" sz="2000" spc="15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to</a:t>
            </a:r>
            <a:r>
              <a:rPr lang="en-US" sz="2000" spc="15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store</a:t>
            </a:r>
            <a:r>
              <a:rPr lang="en-US" sz="2000" spc="155" dirty="0">
                <a:solidFill>
                  <a:srgbClr val="404040"/>
                </a:solidFill>
                <a:latin typeface="Times New Roman" panose="02020603050405020304" pitchFamily="18" charset="0"/>
                <a:cs typeface="Times New Roman" panose="02020603050405020304" pitchFamily="18" charset="0"/>
              </a:rPr>
              <a:t> </a:t>
            </a:r>
            <a:r>
              <a:rPr lang="en-US" sz="2000" b="1" dirty="0">
                <a:solidFill>
                  <a:srgbClr val="404040"/>
                </a:solidFill>
                <a:latin typeface="Times New Roman" panose="02020603050405020304" pitchFamily="18" charset="0"/>
                <a:cs typeface="Times New Roman" panose="02020603050405020304" pitchFamily="18" charset="0"/>
              </a:rPr>
              <a:t>large</a:t>
            </a:r>
            <a:r>
              <a:rPr lang="en-US" sz="2000" b="1" spc="150" dirty="0">
                <a:solidFill>
                  <a:srgbClr val="404040"/>
                </a:solidFill>
                <a:latin typeface="Times New Roman" panose="02020603050405020304" pitchFamily="18" charset="0"/>
                <a:cs typeface="Times New Roman" panose="02020603050405020304" pitchFamily="18" charset="0"/>
              </a:rPr>
              <a:t> </a:t>
            </a:r>
            <a:r>
              <a:rPr lang="en-US" sz="2000" b="1" dirty="0">
                <a:solidFill>
                  <a:srgbClr val="404040"/>
                </a:solidFill>
                <a:latin typeface="Times New Roman" panose="02020603050405020304" pitchFamily="18" charset="0"/>
                <a:cs typeface="Times New Roman" panose="02020603050405020304" pitchFamily="18" charset="0"/>
              </a:rPr>
              <a:t>amount</a:t>
            </a:r>
            <a:r>
              <a:rPr lang="en-US" sz="2000" b="1" spc="145" dirty="0">
                <a:solidFill>
                  <a:srgbClr val="404040"/>
                </a:solidFill>
                <a:latin typeface="Times New Roman" panose="02020603050405020304" pitchFamily="18" charset="0"/>
                <a:cs typeface="Times New Roman" panose="02020603050405020304" pitchFamily="18" charset="0"/>
              </a:rPr>
              <a:t> </a:t>
            </a:r>
            <a:r>
              <a:rPr lang="en-US" sz="2000" b="1" dirty="0">
                <a:solidFill>
                  <a:srgbClr val="404040"/>
                </a:solidFill>
                <a:latin typeface="Times New Roman" panose="02020603050405020304" pitchFamily="18" charset="0"/>
                <a:cs typeface="Times New Roman" panose="02020603050405020304" pitchFamily="18" charset="0"/>
              </a:rPr>
              <a:t>of</a:t>
            </a:r>
            <a:r>
              <a:rPr lang="en-US" sz="2000" b="1" spc="145" dirty="0">
                <a:solidFill>
                  <a:srgbClr val="404040"/>
                </a:solidFill>
                <a:latin typeface="Times New Roman" panose="02020603050405020304" pitchFamily="18" charset="0"/>
                <a:cs typeface="Times New Roman" panose="02020603050405020304" pitchFamily="18" charset="0"/>
              </a:rPr>
              <a:t> </a:t>
            </a:r>
            <a:r>
              <a:rPr lang="en-US" sz="2000" b="1" dirty="0">
                <a:solidFill>
                  <a:srgbClr val="404040"/>
                </a:solidFill>
                <a:latin typeface="Times New Roman" panose="02020603050405020304" pitchFamily="18" charset="0"/>
                <a:cs typeface="Times New Roman" panose="02020603050405020304" pitchFamily="18" charset="0"/>
              </a:rPr>
              <a:t>data</a:t>
            </a:r>
            <a:r>
              <a:rPr lang="en-US" sz="2000" b="1" spc="16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which</a:t>
            </a:r>
            <a:r>
              <a:rPr lang="en-US" sz="2000" spc="15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is</a:t>
            </a:r>
            <a:r>
              <a:rPr lang="en-US" sz="2000" spc="15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provided</a:t>
            </a:r>
            <a:r>
              <a:rPr lang="en-US" sz="2000" spc="15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by</a:t>
            </a:r>
            <a:r>
              <a:rPr lang="en-US" sz="2000" spc="11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our</a:t>
            </a:r>
            <a:r>
              <a:rPr lang="en-US" sz="2000" spc="17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user.</a:t>
            </a:r>
            <a:r>
              <a:rPr lang="en-US" sz="2000" spc="15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It</a:t>
            </a:r>
            <a:r>
              <a:rPr lang="en-US" sz="2000" spc="16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also</a:t>
            </a:r>
            <a:r>
              <a:rPr lang="en-US" sz="2000" spc="150" dirty="0">
                <a:solidFill>
                  <a:srgbClr val="404040"/>
                </a:solidFill>
                <a:latin typeface="Times New Roman" panose="02020603050405020304" pitchFamily="18" charset="0"/>
                <a:cs typeface="Times New Roman" panose="02020603050405020304" pitchFamily="18" charset="0"/>
              </a:rPr>
              <a:t> </a:t>
            </a:r>
            <a:r>
              <a:rPr lang="en-US" sz="2000" spc="-10" dirty="0">
                <a:solidFill>
                  <a:srgbClr val="404040"/>
                </a:solidFill>
                <a:latin typeface="Times New Roman" panose="02020603050405020304" pitchFamily="18" charset="0"/>
                <a:cs typeface="Times New Roman" panose="02020603050405020304" pitchFamily="18" charset="0"/>
              </a:rPr>
              <a:t>helps </a:t>
            </a:r>
            <a:r>
              <a:rPr lang="en-US" sz="2000" dirty="0">
                <a:solidFill>
                  <a:srgbClr val="404040"/>
                </a:solidFill>
                <a:latin typeface="Times New Roman" panose="02020603050405020304" pitchFamily="18" charset="0"/>
                <a:cs typeface="Times New Roman" panose="02020603050405020304" pitchFamily="18" charset="0"/>
              </a:rPr>
              <a:t>our</a:t>
            </a:r>
            <a:r>
              <a:rPr lang="en-US" sz="2000" spc="-3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website</a:t>
            </a:r>
            <a:r>
              <a:rPr lang="en-US" sz="2000" spc="-1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to</a:t>
            </a:r>
            <a:r>
              <a:rPr lang="en-US" sz="2000" spc="-2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access</a:t>
            </a:r>
            <a:r>
              <a:rPr lang="en-US" sz="2000" spc="-2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and</a:t>
            </a:r>
            <a:r>
              <a:rPr lang="en-US" sz="2000" spc="-2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use</a:t>
            </a:r>
            <a:r>
              <a:rPr lang="en-US" sz="2000" spc="-45"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that</a:t>
            </a:r>
            <a:r>
              <a:rPr lang="en-US" sz="2000" spc="-1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data</a:t>
            </a:r>
            <a:r>
              <a:rPr lang="en-US" sz="2000" spc="-2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later</a:t>
            </a:r>
            <a:r>
              <a:rPr lang="en-US" sz="2000" spc="-10" dirty="0">
                <a:solidFill>
                  <a:srgbClr val="404040"/>
                </a:solidFill>
                <a:latin typeface="Times New Roman" panose="02020603050405020304" pitchFamily="18" charset="0"/>
                <a:cs typeface="Times New Roman" panose="02020603050405020304" pitchFamily="18" charset="0"/>
              </a:rPr>
              <a:t> </a:t>
            </a:r>
            <a:r>
              <a:rPr lang="en-US" sz="2000" dirty="0">
                <a:solidFill>
                  <a:srgbClr val="404040"/>
                </a:solidFill>
                <a:latin typeface="Times New Roman" panose="02020603050405020304" pitchFamily="18" charset="0"/>
                <a:cs typeface="Times New Roman" panose="02020603050405020304" pitchFamily="18" charset="0"/>
              </a:rPr>
              <a:t>whenever</a:t>
            </a:r>
            <a:r>
              <a:rPr lang="en-US" sz="2000" spc="-20" dirty="0">
                <a:solidFill>
                  <a:srgbClr val="404040"/>
                </a:solidFill>
                <a:latin typeface="Times New Roman" panose="02020603050405020304" pitchFamily="18" charset="0"/>
                <a:cs typeface="Times New Roman" panose="02020603050405020304" pitchFamily="18" charset="0"/>
              </a:rPr>
              <a:t> </a:t>
            </a:r>
            <a:r>
              <a:rPr lang="en-US" sz="2000" spc="-10" dirty="0">
                <a:solidFill>
                  <a:srgbClr val="404040"/>
                </a:solidFill>
                <a:latin typeface="Times New Roman" panose="02020603050405020304" pitchFamily="18" charset="0"/>
                <a:cs typeface="Times New Roman" panose="02020603050405020304" pitchFamily="18" charset="0"/>
              </a:rPr>
              <a:t>needed.</a:t>
            </a:r>
            <a:endParaRPr lang="en-US" sz="2000" dirty="0">
              <a:latin typeface="Times New Roman" pitchFamily="18" charset="0"/>
              <a:cs typeface="Times New Roman" pitchFamily="18" charset="0"/>
            </a:endParaRPr>
          </a:p>
          <a:p>
            <a:pPr marL="356870" indent="-344170">
              <a:lnSpc>
                <a:spcPts val="2330"/>
              </a:lnSpc>
              <a:spcBef>
                <a:spcPts val="1775"/>
              </a:spcBef>
              <a:buClr>
                <a:srgbClr val="404040"/>
              </a:buClr>
              <a:buFont typeface="Microsoft Sans Serif"/>
              <a:buChar char="•"/>
              <a:tabLst>
                <a:tab pos="356870" algn="l"/>
              </a:tabLst>
            </a:pPr>
            <a:r>
              <a:rPr lang="en-US" sz="2000" b="1" dirty="0">
                <a:latin typeface="Times New Roman" panose="02020603050405020304" pitchFamily="18" charset="0"/>
                <a:cs typeface="Times New Roman" panose="02020603050405020304" pitchFamily="18" charset="0"/>
              </a:rPr>
              <a:t>Straight to cloud Method </a:t>
            </a:r>
            <a:r>
              <a:rPr lang="en-US" sz="2000" dirty="0">
                <a:latin typeface="Times New Roman" panose="02020603050405020304" pitchFamily="18" charset="0"/>
                <a:cs typeface="Times New Roman" panose="02020603050405020304" pitchFamily="18" charset="0"/>
              </a:rPr>
              <a:t>. There's</a:t>
            </a:r>
            <a:r>
              <a:rPr lang="en-US" sz="2000" spc="1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new</a:t>
            </a:r>
            <a:r>
              <a:rPr lang="en-US" sz="2000" spc="1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way</a:t>
            </a:r>
            <a:r>
              <a:rPr lang="en-US" sz="2000" spc="1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1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users</a:t>
            </a:r>
            <a:r>
              <a:rPr lang="en-US" sz="2000" spc="1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upload</a:t>
            </a:r>
            <a:r>
              <a:rPr lang="en-US" sz="2000" spc="1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files:</a:t>
            </a:r>
            <a:r>
              <a:rPr lang="en-US" sz="2000" spc="1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instead</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sending</a:t>
            </a:r>
            <a:r>
              <a:rPr lang="en-US" sz="2000" spc="1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files</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website</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first,</a:t>
            </a:r>
            <a:r>
              <a:rPr lang="en-US" sz="2000" spc="1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users</a:t>
            </a:r>
            <a:r>
              <a:rPr lang="en-US" sz="2000" spc="15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upload </a:t>
            </a:r>
            <a:r>
              <a:rPr lang="en-US" sz="2000" dirty="0">
                <a:latin typeface="Times New Roman" panose="02020603050405020304" pitchFamily="18" charset="0"/>
                <a:cs typeface="Times New Roman" panose="02020603050405020304" pitchFamily="18" charset="0"/>
              </a:rPr>
              <a:t>them</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straight</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cloud. </a:t>
            </a:r>
            <a:r>
              <a:rPr lang="en-US" sz="2000" dirty="0">
                <a:latin typeface="Times New Roman" panose="02020603050405020304" pitchFamily="18" charset="0"/>
                <a:cs typeface="Times New Roman" panose="02020603050405020304" pitchFamily="18" charset="0"/>
              </a:rPr>
              <a:t>This</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process</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has</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three</a:t>
            </a:r>
            <a:r>
              <a:rPr lang="en-US" sz="2000" spc="-1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steps:-</a:t>
            </a:r>
          </a:p>
          <a:p>
            <a:pPr marL="469900" indent="-457200">
              <a:lnSpc>
                <a:spcPct val="100000"/>
              </a:lnSpc>
              <a:spcBef>
                <a:spcPts val="2150"/>
              </a:spcBef>
              <a:buAutoNum type="arabicPeriod"/>
              <a:tabLst>
                <a:tab pos="368935" algn="l"/>
                <a:tab pos="1384300" algn="l"/>
                <a:tab pos="2802255" algn="l"/>
                <a:tab pos="3094990" algn="l"/>
                <a:tab pos="3667760" algn="l"/>
                <a:tab pos="4268470" algn="l"/>
                <a:tab pos="4884420" algn="l"/>
                <a:tab pos="5366385" algn="l"/>
                <a:tab pos="6338570" algn="l"/>
                <a:tab pos="6805295" algn="l"/>
                <a:tab pos="8134350" algn="l"/>
                <a:tab pos="8496935" algn="l"/>
                <a:tab pos="9451340" algn="l"/>
                <a:tab pos="9780270" algn="l"/>
                <a:tab pos="10930255" algn="l"/>
                <a:tab pos="11155680" algn="l"/>
              </a:tabLst>
            </a:pPr>
            <a:r>
              <a:rPr lang="en-US" sz="2000" b="1" spc="-10" dirty="0">
                <a:latin typeface="Times New Roman" panose="02020603050405020304" pitchFamily="18" charset="0"/>
                <a:cs typeface="Times New Roman" panose="02020603050405020304" pitchFamily="18" charset="0"/>
              </a:rPr>
              <a:t>Getting  Permission  </a:t>
            </a:r>
            <a:r>
              <a:rPr lang="en-US" sz="2000" spc="-5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The  </a:t>
            </a:r>
            <a:r>
              <a:rPr lang="en-US" sz="2000" spc="-20" dirty="0">
                <a:latin typeface="Times New Roman" panose="02020603050405020304" pitchFamily="18" charset="0"/>
                <a:cs typeface="Times New Roman" panose="02020603050405020304" pitchFamily="18" charset="0"/>
              </a:rPr>
              <a:t>user asks </a:t>
            </a:r>
            <a:r>
              <a:rPr lang="en-US" sz="2000" spc="-25" dirty="0">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website </a:t>
            </a:r>
            <a:r>
              <a:rPr lang="en-US" sz="2000" spc="-25" dirty="0">
                <a:latin typeface="Times New Roman" panose="02020603050405020304" pitchFamily="18" charset="0"/>
                <a:cs typeface="Times New Roman" panose="02020603050405020304" pitchFamily="18" charset="0"/>
              </a:rPr>
              <a:t>for </a:t>
            </a:r>
            <a:r>
              <a:rPr lang="en-US" sz="2000" spc="-10" dirty="0">
                <a:latin typeface="Times New Roman" panose="02020603050405020304" pitchFamily="18" charset="0"/>
                <a:cs typeface="Times New Roman" panose="02020603050405020304" pitchFamily="18" charset="0"/>
              </a:rPr>
              <a:t>permission </a:t>
            </a:r>
            <a:r>
              <a:rPr lang="en-US" sz="2000" spc="-25" dirty="0">
                <a:latin typeface="Times New Roman" panose="02020603050405020304" pitchFamily="18" charset="0"/>
                <a:cs typeface="Times New Roman" panose="02020603050405020304" pitchFamily="18" charset="0"/>
              </a:rPr>
              <a:t>to </a:t>
            </a:r>
            <a:r>
              <a:rPr lang="en-US" sz="2000" spc="-10" dirty="0">
                <a:latin typeface="Times New Roman" panose="02020603050405020304" pitchFamily="18" charset="0"/>
                <a:cs typeface="Times New Roman" panose="02020603050405020304" pitchFamily="18" charset="0"/>
              </a:rPr>
              <a:t>upload. </a:t>
            </a:r>
            <a:r>
              <a:rPr lang="en-US" sz="2000" spc="-25" dirty="0">
                <a:latin typeface="Times New Roman" panose="02020603050405020304" pitchFamily="18" charset="0"/>
                <a:cs typeface="Times New Roman" panose="02020603050405020304" pitchFamily="18" charset="0"/>
              </a:rPr>
              <a:t>If </a:t>
            </a:r>
            <a:r>
              <a:rPr lang="en-US" sz="2000" spc="-10" dirty="0">
                <a:latin typeface="Times New Roman" panose="02020603050405020304" pitchFamily="18" charset="0"/>
                <a:cs typeface="Times New Roman" panose="02020603050405020304" pitchFamily="18" charset="0"/>
              </a:rPr>
              <a:t>approved</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website</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gives</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special</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upload</a:t>
            </a:r>
            <a:r>
              <a:rPr lang="en-US" sz="2000" spc="-5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pass.</a:t>
            </a:r>
          </a:p>
          <a:p>
            <a:pPr marL="469900" indent="-457200">
              <a:spcBef>
                <a:spcPts val="2150"/>
              </a:spcBef>
              <a:buFontTx/>
              <a:buAutoNum type="arabicPeriod"/>
              <a:tabLst>
                <a:tab pos="368935" algn="l"/>
                <a:tab pos="1384300" algn="l"/>
                <a:tab pos="2802255" algn="l"/>
                <a:tab pos="3094990" algn="l"/>
                <a:tab pos="3667760" algn="l"/>
                <a:tab pos="4268470" algn="l"/>
                <a:tab pos="4884420" algn="l"/>
                <a:tab pos="5366385" algn="l"/>
                <a:tab pos="6338570" algn="l"/>
                <a:tab pos="6805295" algn="l"/>
                <a:tab pos="8134350" algn="l"/>
                <a:tab pos="8496935" algn="l"/>
                <a:tab pos="9451340" algn="l"/>
                <a:tab pos="9780270" algn="l"/>
                <a:tab pos="10930255" algn="l"/>
                <a:tab pos="11155680" algn="l"/>
              </a:tabLst>
            </a:pPr>
            <a:r>
              <a:rPr lang="en-US" sz="2000" b="1" dirty="0">
                <a:latin typeface="Times New Roman" panose="02020603050405020304" pitchFamily="18" charset="0"/>
                <a:cs typeface="Times New Roman" panose="02020603050405020304" pitchFamily="18" charset="0"/>
              </a:rPr>
              <a:t>Uploading</a:t>
            </a:r>
            <a:r>
              <a:rPr lang="en-US" sz="2000" b="1" spc="-9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a:t>
            </a:r>
            <a:r>
              <a:rPr lang="en-US" sz="2000" b="1" spc="-2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File</a:t>
            </a:r>
            <a:r>
              <a:rPr lang="en-US" sz="2000" b="1"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uses</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pass</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send</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directly</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2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cloud.</a:t>
            </a:r>
          </a:p>
          <a:p>
            <a:pPr marL="469900" indent="-457200">
              <a:spcBef>
                <a:spcPts val="2150"/>
              </a:spcBef>
              <a:buFontTx/>
              <a:buAutoNum type="arabicPeriod"/>
              <a:tabLst>
                <a:tab pos="368935" algn="l"/>
                <a:tab pos="1384300" algn="l"/>
                <a:tab pos="2802255" algn="l"/>
                <a:tab pos="3094990" algn="l"/>
                <a:tab pos="3667760" algn="l"/>
                <a:tab pos="4268470" algn="l"/>
                <a:tab pos="4884420" algn="l"/>
                <a:tab pos="5366385" algn="l"/>
                <a:tab pos="6338570" algn="l"/>
                <a:tab pos="6805295" algn="l"/>
                <a:tab pos="8134350" algn="l"/>
                <a:tab pos="8496935" algn="l"/>
                <a:tab pos="9451340" algn="l"/>
                <a:tab pos="9780270" algn="l"/>
                <a:tab pos="10930255" algn="l"/>
                <a:tab pos="11155680" algn="l"/>
              </a:tabLst>
            </a:pPr>
            <a:r>
              <a:rPr lang="en-US" sz="2000" b="1" spc="-10" dirty="0">
                <a:latin typeface="Times New Roman" panose="02020603050405020304" pitchFamily="18" charset="0"/>
                <a:cs typeface="Times New Roman" panose="02020603050405020304" pitchFamily="18" charset="0"/>
              </a:rPr>
              <a:t>Sending a Notification – </a:t>
            </a:r>
            <a:r>
              <a:rPr lang="en-US" sz="2000" spc="-10" dirty="0">
                <a:latin typeface="Times New Roman" panose="02020603050405020304" pitchFamily="18" charset="0"/>
                <a:cs typeface="Times New Roman" panose="02020603050405020304" pitchFamily="18" charset="0"/>
              </a:rPr>
              <a:t>After the upload the cloud , The cloud or the User tells website that’s its done </a:t>
            </a:r>
            <a:endParaRPr lang="en-US" sz="2000" b="1" spc="-10" dirty="0">
              <a:latin typeface="Times New Roman" panose="02020603050405020304" pitchFamily="18" charset="0"/>
              <a:cs typeface="Times New Roman" panose="02020603050405020304" pitchFamily="18" charset="0"/>
            </a:endParaRPr>
          </a:p>
          <a:p>
            <a:pPr marL="469900" indent="-457200">
              <a:lnSpc>
                <a:spcPct val="100000"/>
              </a:lnSpc>
              <a:spcBef>
                <a:spcPts val="2150"/>
              </a:spcBef>
              <a:buAutoNum type="arabicPeriod"/>
              <a:tabLst>
                <a:tab pos="368935" algn="l"/>
                <a:tab pos="1384300" algn="l"/>
                <a:tab pos="2802255" algn="l"/>
                <a:tab pos="3094990" algn="l"/>
                <a:tab pos="3667760" algn="l"/>
                <a:tab pos="4268470" algn="l"/>
                <a:tab pos="4884420" algn="l"/>
                <a:tab pos="5366385" algn="l"/>
                <a:tab pos="6338570" algn="l"/>
                <a:tab pos="6805295" algn="l"/>
                <a:tab pos="8134350" algn="l"/>
                <a:tab pos="8496935" algn="l"/>
                <a:tab pos="9451340" algn="l"/>
                <a:tab pos="9780270" algn="l"/>
                <a:tab pos="10930255" algn="l"/>
                <a:tab pos="11155680" algn="l"/>
              </a:tabLst>
            </a:pPr>
            <a:endParaRPr lang="en-US" sz="2000" dirty="0">
              <a:latin typeface="Times New Roman" pitchFamily="18" charset="0"/>
              <a:cs typeface="Times New Roman" pitchFamily="18" charset="0"/>
            </a:endParaRPr>
          </a:p>
          <a:p>
            <a:pPr marL="0" lvl="0" indent="0">
              <a:lnSpc>
                <a:spcPct val="85000"/>
              </a:lnSpc>
              <a:buClr>
                <a:srgbClr val="404040"/>
              </a:buClr>
              <a:buSzPts val="2100"/>
              <a:buFont typeface="Arial" panose="020B0604020202020204" pitchFamily="34" charset="0"/>
              <a:buNone/>
            </a:pPr>
            <a:endParaRPr lang="en-US" altLang="en-US" sz="2000" dirty="0">
              <a:solidFill>
                <a:srgbClr val="404040"/>
              </a:solidFill>
              <a:latin typeface="Times New Roman" panose="02020603050405020304" pitchFamily="18" charset="0"/>
              <a:cs typeface="Times New Roman" panose="02020603050405020304" pitchFamily="18" charset="0"/>
              <a:sym typeface="Times New Roman" panose="02020603050405020304"/>
            </a:endParaRPr>
          </a:p>
        </p:txBody>
      </p:sp>
      <p:sp>
        <p:nvSpPr>
          <p:cNvPr id="155" name="Google Shape;155;p19"/>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i="0" u="none">
                <a:solidFill>
                  <a:schemeClr val="dk1"/>
                </a:solidFill>
                <a:latin typeface="Arial Narrow" panose="020B0606020202030204"/>
                <a:ea typeface="Arial Narrow" panose="020B0606020202030204"/>
                <a:cs typeface="Arial Narrow" panose="020B0606020202030204"/>
                <a:sym typeface="Arial Narrow" panose="020B0606020202030204"/>
              </a:rPr>
              <a:t>1. Introduction</a:t>
            </a:r>
          </a:p>
        </p:txBody>
      </p:sp>
      <p:sp>
        <p:nvSpPr>
          <p:cNvPr id="156" name="Google Shape;156;p19"/>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dirty="0">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endParaRPr dirty="0"/>
          </a:p>
        </p:txBody>
      </p:sp>
      <p:sp>
        <p:nvSpPr>
          <p:cNvPr id="157" name="Google Shape;157;p19"/>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4</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104843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30287"/>
            <a:ext cx="11653837" cy="5292725"/>
          </a:xfrm>
          <a:prstGeom prst="rect">
            <a:avLst/>
          </a:prstGeom>
          <a:noFill/>
          <a:ln>
            <a:noFill/>
          </a:ln>
        </p:spPr>
        <p:txBody>
          <a:bodyPr spcFirstLastPara="1" wrap="square" lIns="91425" tIns="45700" rIns="91425" bIns="45700" anchor="t" anchorCtr="0">
            <a:noAutofit/>
          </a:bodyPr>
          <a:lstStyle/>
          <a:p>
            <a:pPr marL="355600" lvl="1" indent="-342900">
              <a:lnSpc>
                <a:spcPct val="100000"/>
              </a:lnSpc>
              <a:spcBef>
                <a:spcPts val="1430"/>
              </a:spcBef>
              <a:buFont typeface="Arial" panose="020B0604020202020204" pitchFamily="34" charset="0"/>
              <a:buChar char="•"/>
              <a:tabLst>
                <a:tab pos="356870" algn="l"/>
              </a:tabLst>
            </a:pPr>
            <a:r>
              <a:rPr lang="en-US" sz="2000" b="1" dirty="0">
                <a:latin typeface="Times New Roman" panose="02020603050405020304" pitchFamily="18" charset="0"/>
                <a:cs typeface="Times New Roman" panose="02020603050405020304" pitchFamily="18" charset="0"/>
              </a:rPr>
              <a:t>New</a:t>
            </a:r>
            <a:r>
              <a:rPr lang="en-US" sz="2000" b="1" spc="-3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Upload</a:t>
            </a:r>
            <a:r>
              <a:rPr lang="en-US" sz="2000" b="1" spc="-40"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Method</a:t>
            </a:r>
            <a:r>
              <a:rPr lang="en-US" sz="2000" spc="-1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12700">
              <a:lnSpc>
                <a:spcPct val="100000"/>
              </a:lnSpc>
            </a:pPr>
            <a:r>
              <a:rPr lang="en-US" sz="2000" dirty="0">
                <a:latin typeface="Times New Roman" panose="02020603050405020304" pitchFamily="18" charset="0"/>
                <a:cs typeface="Times New Roman" panose="02020603050405020304" pitchFamily="18" charset="0"/>
              </a:rPr>
              <a:t>Instead</a:t>
            </a:r>
            <a:r>
              <a:rPr lang="en-US" sz="2000" spc="1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1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sending</a:t>
            </a:r>
            <a:r>
              <a:rPr lang="en-US" sz="2000" spc="1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files</a:t>
            </a:r>
            <a:r>
              <a:rPr lang="en-US" sz="2000" spc="1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through</a:t>
            </a:r>
            <a:r>
              <a:rPr lang="en-US" sz="2000" spc="1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website’s</a:t>
            </a:r>
            <a:r>
              <a:rPr lang="en-US" sz="2000" spc="1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server,</a:t>
            </a:r>
            <a:r>
              <a:rPr lang="en-US" sz="2000" spc="1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users</a:t>
            </a:r>
            <a:r>
              <a:rPr lang="en-US" sz="2000" spc="1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now</a:t>
            </a:r>
            <a:r>
              <a:rPr lang="en-US" sz="2000" spc="1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upload</a:t>
            </a:r>
            <a:r>
              <a:rPr lang="en-US" sz="2000" spc="1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files</a:t>
            </a:r>
            <a:r>
              <a:rPr lang="en-US" sz="2000" spc="1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directly</a:t>
            </a:r>
            <a:r>
              <a:rPr lang="en-US" sz="2000" spc="1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1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1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cloud.</a:t>
            </a:r>
            <a:r>
              <a:rPr lang="en-US" sz="2000" spc="16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While</a:t>
            </a:r>
            <a:endParaRPr lang="en-US" sz="2000" dirty="0">
              <a:latin typeface="Times New Roman" panose="02020603050405020304" pitchFamily="18" charset="0"/>
              <a:cs typeface="Times New Roman" panose="02020603050405020304" pitchFamily="18" charset="0"/>
            </a:endParaRPr>
          </a:p>
          <a:p>
            <a:pPr marL="12700">
              <a:lnSpc>
                <a:spcPct val="100000"/>
              </a:lnSpc>
            </a:pPr>
            <a:r>
              <a:rPr lang="en-US" sz="2000" dirty="0">
                <a:latin typeface="Times New Roman" panose="02020603050405020304" pitchFamily="18" charset="0"/>
                <a:cs typeface="Times New Roman" panose="02020603050405020304" pitchFamily="18" charset="0"/>
              </a:rPr>
              <a:t>this</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saves</a:t>
            </a:r>
            <a:r>
              <a:rPr lang="en-US" sz="2000" spc="-1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resources,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changes</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security</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needs</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a:t>
            </a:r>
            <a:r>
              <a:rPr lang="en-US" sz="2000" spc="-4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handled.</a:t>
            </a:r>
          </a:p>
          <a:p>
            <a:pPr>
              <a:lnSpc>
                <a:spcPct val="100000"/>
              </a:lnSpc>
              <a:spcBef>
                <a:spcPts val="110"/>
              </a:spcBef>
            </a:pPr>
            <a:endParaRPr lang="en-US" sz="2100" dirty="0">
              <a:latin typeface="Times New Roman"/>
              <a:cs typeface="Times New Roman"/>
            </a:endParaRPr>
          </a:p>
          <a:p>
            <a:pPr marL="356870" lvl="1" indent="-344170">
              <a:lnSpc>
                <a:spcPct val="100000"/>
              </a:lnSpc>
              <a:buFont typeface="Microsoft Sans Serif"/>
              <a:buChar char="•"/>
              <a:tabLst>
                <a:tab pos="356870" algn="l"/>
              </a:tabLst>
            </a:pPr>
            <a:r>
              <a:rPr lang="en-US" sz="2000" b="1" dirty="0">
                <a:latin typeface="Times New Roman" panose="02020603050405020304" pitchFamily="18" charset="0"/>
                <a:cs typeface="Times New Roman" panose="02020603050405020304" pitchFamily="18" charset="0"/>
              </a:rPr>
              <a:t>Hidden</a:t>
            </a:r>
            <a:r>
              <a:rPr lang="en-US" sz="2000" b="1" spc="-60"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Risks</a:t>
            </a:r>
            <a:r>
              <a:rPr lang="en-US" sz="2000" spc="-1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12700">
              <a:lnSpc>
                <a:spcPct val="100000"/>
              </a:lnSpc>
            </a:pPr>
            <a:r>
              <a:rPr lang="en-US" sz="2000" dirty="0">
                <a:latin typeface="Times New Roman" panose="02020603050405020304" pitchFamily="18" charset="0"/>
                <a:cs typeface="Times New Roman" panose="02020603050405020304" pitchFamily="18" charset="0"/>
              </a:rPr>
              <a:t>Many</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websites</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using</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method</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unknowingly</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expose</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themselves</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new</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vulnerabilities,</a:t>
            </a:r>
            <a:r>
              <a:rPr lang="en-US" sz="2000" spc="9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such</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a:t>
            </a:r>
            <a:r>
              <a:rPr lang="en-US" sz="2000" spc="7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identity</a:t>
            </a:r>
            <a:endParaRPr lang="en-US" sz="2000" dirty="0">
              <a:latin typeface="Times New Roman" panose="02020603050405020304" pitchFamily="18" charset="0"/>
              <a:cs typeface="Times New Roman" panose="02020603050405020304" pitchFamily="18" charset="0"/>
            </a:endParaRPr>
          </a:p>
          <a:p>
            <a:pPr marL="12700">
              <a:lnSpc>
                <a:spcPct val="100000"/>
              </a:lnSpc>
            </a:pPr>
            <a:r>
              <a:rPr lang="en-US" sz="2000" dirty="0">
                <a:latin typeface="Times New Roman" panose="02020603050405020304" pitchFamily="18" charset="0"/>
                <a:cs typeface="Times New Roman" panose="02020603050405020304" pitchFamily="18" charset="0"/>
              </a:rPr>
              <a:t>spoofing</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unauthorized</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access</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files.</a:t>
            </a:r>
          </a:p>
          <a:p>
            <a:pPr marL="356870" lvl="1" indent="-344170">
              <a:lnSpc>
                <a:spcPct val="100000"/>
              </a:lnSpc>
              <a:spcBef>
                <a:spcPts val="1685"/>
              </a:spcBef>
              <a:buFont typeface="Microsoft Sans Serif"/>
              <a:buChar char="•"/>
              <a:tabLst>
                <a:tab pos="356870" algn="l"/>
              </a:tabLst>
            </a:pPr>
            <a:r>
              <a:rPr lang="en-US" sz="2000" b="1" dirty="0">
                <a:latin typeface="Times New Roman" panose="02020603050405020304" pitchFamily="18" charset="0"/>
                <a:cs typeface="Times New Roman" panose="02020603050405020304" pitchFamily="18" charset="0"/>
              </a:rPr>
              <a:t>Research</a:t>
            </a:r>
            <a:r>
              <a:rPr lang="en-US" sz="2000" b="1" spc="-5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Value</a:t>
            </a:r>
            <a:r>
              <a:rPr lang="en-US" sz="2000" spc="-1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12700" marR="7620">
              <a:lnSpc>
                <a:spcPct val="100000"/>
              </a:lnSpc>
              <a:tabLst>
                <a:tab pos="1499870" algn="l"/>
                <a:tab pos="2875280" algn="l"/>
                <a:tab pos="3317240" algn="l"/>
                <a:tab pos="3816985" algn="l"/>
                <a:tab pos="4405630" algn="l"/>
                <a:tab pos="5427345" algn="l"/>
                <a:tab pos="5881370" algn="l"/>
                <a:tab pos="7003415" algn="l"/>
                <a:tab pos="8006080" algn="l"/>
                <a:tab pos="8356600" algn="l"/>
                <a:tab pos="9033510" algn="l"/>
                <a:tab pos="9551670" algn="l"/>
                <a:tab pos="10274935" algn="l"/>
                <a:tab pos="11039475" algn="l"/>
              </a:tabLst>
            </a:pPr>
            <a:r>
              <a:rPr lang="en-US" sz="2000" dirty="0">
                <a:latin typeface="Times New Roman" panose="02020603050405020304" pitchFamily="18" charset="0"/>
                <a:cs typeface="Times New Roman" panose="02020603050405020304" pitchFamily="18" charset="0"/>
              </a:rPr>
              <a:t>By</a:t>
            </a:r>
            <a:r>
              <a:rPr lang="en-US" sz="2000" spc="44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studying</a:t>
            </a:r>
            <a:r>
              <a:rPr lang="en-US" sz="2000" dirty="0">
                <a:latin typeface="Times New Roman" panose="02020603050405020304" pitchFamily="18" charset="0"/>
                <a:cs typeface="Times New Roman" panose="02020603050405020304" pitchFamily="18" charset="0"/>
              </a:rPr>
              <a:t>	these</a:t>
            </a:r>
            <a:r>
              <a:rPr lang="en-US" sz="2000" spc="45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risks,</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we</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can</a:t>
            </a:r>
            <a:r>
              <a:rPr lang="en-US" sz="200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help</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improve</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safety</a:t>
            </a:r>
            <a:r>
              <a:rPr lang="en-US" sz="2000" spc="45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of</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millions</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of</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users</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and</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guide</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future </a:t>
            </a:r>
            <a:r>
              <a:rPr lang="en-US" sz="2000" spc="-25" dirty="0">
                <a:latin typeface="Times New Roman" panose="02020603050405020304" pitchFamily="18" charset="0"/>
                <a:cs typeface="Times New Roman" panose="02020603050405020304" pitchFamily="18" charset="0"/>
              </a:rPr>
              <a:t>web </a:t>
            </a:r>
            <a:r>
              <a:rPr lang="en-US" sz="2000" spc="-10" dirty="0">
                <a:latin typeface="Times New Roman" panose="02020603050405020304" pitchFamily="18" charset="0"/>
                <a:cs typeface="Times New Roman" panose="02020603050405020304" pitchFamily="18" charset="0"/>
              </a:rPr>
              <a:t>development.</a:t>
            </a:r>
          </a:p>
          <a:p>
            <a:pPr marL="356870" lvl="1" indent="-344170">
              <a:lnSpc>
                <a:spcPct val="100000"/>
              </a:lnSpc>
              <a:spcBef>
                <a:spcPts val="1680"/>
              </a:spcBef>
              <a:buFont typeface="Microsoft Sans Serif"/>
              <a:buChar char="•"/>
              <a:tabLst>
                <a:tab pos="356870" algn="l"/>
              </a:tabLst>
            </a:pPr>
            <a:r>
              <a:rPr lang="en-US" sz="2000" b="1" dirty="0">
                <a:latin typeface="Times New Roman" panose="02020603050405020304" pitchFamily="18" charset="0"/>
                <a:cs typeface="Times New Roman" panose="02020603050405020304" pitchFamily="18" charset="0"/>
              </a:rPr>
              <a:t>Need</a:t>
            </a:r>
            <a:r>
              <a:rPr lang="en-US" sz="2000" b="1" spc="-4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for</a:t>
            </a:r>
            <a:r>
              <a:rPr lang="en-US" sz="2000" b="1" spc="-1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Awareness</a:t>
            </a:r>
            <a:r>
              <a:rPr lang="en-US" sz="2000" spc="-1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12700">
              <a:lnSpc>
                <a:spcPct val="100000"/>
              </a:lnSpc>
              <a:spcBef>
                <a:spcPts val="5"/>
              </a:spcBef>
            </a:pPr>
            <a:r>
              <a:rPr lang="en-US" sz="2000" dirty="0">
                <a:latin typeface="Times New Roman" panose="02020603050405020304" pitchFamily="18" charset="0"/>
                <a:cs typeface="Times New Roman" panose="02020603050405020304" pitchFamily="18" charset="0"/>
              </a:rPr>
              <a:t>Developers</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security</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teams</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may</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not</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fully</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understand</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these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risks.</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title</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aims</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raise</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awareness</a:t>
            </a:r>
            <a:r>
              <a:rPr lang="en-US" sz="2000" spc="4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and</a:t>
            </a:r>
            <a:endParaRPr lang="en-US" sz="2000" dirty="0">
              <a:latin typeface="Times New Roman" panose="02020603050405020304" pitchFamily="18" charset="0"/>
              <a:cs typeface="Times New Roman" panose="02020603050405020304" pitchFamily="18" charset="0"/>
            </a:endParaRPr>
          </a:p>
          <a:p>
            <a:pPr marL="12700">
              <a:lnSpc>
                <a:spcPct val="100000"/>
              </a:lnSpc>
            </a:pPr>
            <a:r>
              <a:rPr lang="en-US" sz="2000" dirty="0">
                <a:latin typeface="Times New Roman" panose="02020603050405020304" pitchFamily="18" charset="0"/>
                <a:cs typeface="Times New Roman" panose="02020603050405020304" pitchFamily="18" charset="0"/>
              </a:rPr>
              <a:t>encourage</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better</a:t>
            </a:r>
            <a:r>
              <a:rPr lang="en-US" sz="2000" spc="-2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security</a:t>
            </a:r>
            <a:r>
              <a:rPr lang="en-US" sz="2000" spc="-10" dirty="0">
                <a:latin typeface="Times New Roman" panose="02020603050405020304" pitchFamily="18" charset="0"/>
                <a:cs typeface="Times New Roman" panose="02020603050405020304" pitchFamily="18" charset="0"/>
              </a:rPr>
              <a:t> practices.</a:t>
            </a:r>
            <a:endParaRPr lang="en-US" sz="2000" dirty="0">
              <a:latin typeface="Times New Roman" panose="02020603050405020304" pitchFamily="18" charset="0"/>
              <a:cs typeface="Times New Roman" panose="02020603050405020304" pitchFamily="18" charset="0"/>
            </a:endParaRPr>
          </a:p>
          <a:p>
            <a:pPr marL="355600" marR="7620" indent="-342900">
              <a:lnSpc>
                <a:spcPct val="100000"/>
              </a:lnSpc>
              <a:buFont typeface="Arial" panose="020B0604020202020204" pitchFamily="34" charset="0"/>
              <a:buChar char="•"/>
              <a:tabLst>
                <a:tab pos="1499870" algn="l"/>
                <a:tab pos="2875280" algn="l"/>
                <a:tab pos="3317240" algn="l"/>
                <a:tab pos="3816985" algn="l"/>
                <a:tab pos="4405630" algn="l"/>
                <a:tab pos="5427345" algn="l"/>
                <a:tab pos="5881370" algn="l"/>
                <a:tab pos="7003415" algn="l"/>
                <a:tab pos="8006080" algn="l"/>
                <a:tab pos="8356600" algn="l"/>
                <a:tab pos="9033510" algn="l"/>
                <a:tab pos="9551670" algn="l"/>
                <a:tab pos="10274935" algn="l"/>
                <a:tab pos="11039475" algn="l"/>
              </a:tabLst>
            </a:pPr>
            <a:endParaRPr lang="en-US" sz="2000" spc="-10" dirty="0">
              <a:latin typeface="Times New Roman" panose="02020603050405020304" pitchFamily="18" charset="0"/>
              <a:cs typeface="Times New Roman" panose="02020603050405020304" pitchFamily="18" charset="0"/>
            </a:endParaRPr>
          </a:p>
          <a:p>
            <a:pPr marL="12700" marR="7620">
              <a:lnSpc>
                <a:spcPct val="100000"/>
              </a:lnSpc>
              <a:tabLst>
                <a:tab pos="1499870" algn="l"/>
                <a:tab pos="2875280" algn="l"/>
                <a:tab pos="3317240" algn="l"/>
                <a:tab pos="3816985" algn="l"/>
                <a:tab pos="4405630" algn="l"/>
                <a:tab pos="5427345" algn="l"/>
                <a:tab pos="5881370" algn="l"/>
                <a:tab pos="7003415" algn="l"/>
                <a:tab pos="8006080" algn="l"/>
                <a:tab pos="8356600" algn="l"/>
                <a:tab pos="9033510" algn="l"/>
                <a:tab pos="9551670" algn="l"/>
                <a:tab pos="10274935" algn="l"/>
                <a:tab pos="11039475" algn="l"/>
              </a:tabLst>
            </a:pPr>
            <a:endParaRPr lang="en-US" sz="2100" spc="-10" dirty="0">
              <a:latin typeface="Times New Roman"/>
              <a:cs typeface="Times New Roman"/>
            </a:endParaRPr>
          </a:p>
          <a:p>
            <a:pPr marL="12700" marR="7620">
              <a:lnSpc>
                <a:spcPct val="100000"/>
              </a:lnSpc>
              <a:tabLst>
                <a:tab pos="1499870" algn="l"/>
                <a:tab pos="2875280" algn="l"/>
                <a:tab pos="3317240" algn="l"/>
                <a:tab pos="3816985" algn="l"/>
                <a:tab pos="4405630" algn="l"/>
                <a:tab pos="5427345" algn="l"/>
                <a:tab pos="5881370" algn="l"/>
                <a:tab pos="7003415" algn="l"/>
                <a:tab pos="8006080" algn="l"/>
                <a:tab pos="8356600" algn="l"/>
                <a:tab pos="9033510" algn="l"/>
                <a:tab pos="9551670" algn="l"/>
                <a:tab pos="10274935" algn="l"/>
                <a:tab pos="11039475" algn="l"/>
              </a:tabLst>
            </a:pPr>
            <a:endParaRPr lang="en-US" sz="2100" dirty="0">
              <a:latin typeface="Times New Roman"/>
              <a:cs typeface="Times New Roman"/>
            </a:endParaRPr>
          </a:p>
          <a:p>
            <a:pPr marL="355600" indent="-342900">
              <a:lnSpc>
                <a:spcPct val="10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55600" indent="-342900">
              <a:lnSpc>
                <a:spcPct val="100000"/>
              </a:lnSpc>
              <a:buFont typeface="Arial" panose="020B0604020202020204" pitchFamily="34" charset="0"/>
              <a:buChar char="•"/>
            </a:pPr>
            <a:endParaRPr lang="en-US" sz="2000" spc="-10" dirty="0">
              <a:latin typeface="Times New Roman" panose="02020603050405020304" pitchFamily="18" charset="0"/>
              <a:cs typeface="Times New Roman" panose="02020603050405020304" pitchFamily="18" charset="0"/>
            </a:endParaRPr>
          </a:p>
          <a:p>
            <a:pPr marL="12700">
              <a:lnSpc>
                <a:spcPct val="100000"/>
              </a:lnSpc>
            </a:pPr>
            <a:endParaRPr lang="en-US" sz="2000" spc="-10" dirty="0">
              <a:latin typeface="Times New Roman" panose="02020603050405020304" pitchFamily="18" charset="0"/>
              <a:cs typeface="Times New Roman" panose="02020603050405020304" pitchFamily="18" charset="0"/>
            </a:endParaRPr>
          </a:p>
          <a:p>
            <a:pPr marL="12700">
              <a:lnSpc>
                <a:spcPct val="100000"/>
              </a:lnSpc>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2.Motivation</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5</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1522105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3.Challenges</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6</a:t>
            </a:fld>
            <a:endParaRPr lang="en-US" sz="1400" b="0" i="0" u="none">
              <a:solidFill>
                <a:srgbClr val="FFFFFF"/>
              </a:solidFill>
              <a:latin typeface="Libre Franklin"/>
              <a:ea typeface="Libre Franklin"/>
              <a:cs typeface="Libre Franklin"/>
              <a:sym typeface="Libre Franklin"/>
            </a:endParaRPr>
          </a:p>
        </p:txBody>
      </p:sp>
      <p:sp>
        <p:nvSpPr>
          <p:cNvPr id="4" name="Rectangle 3">
            <a:extLst>
              <a:ext uri="{FF2B5EF4-FFF2-40B4-BE49-F238E27FC236}">
                <a16:creationId xmlns:a16="http://schemas.microsoft.com/office/drawing/2014/main" id="{6595C504-E65B-E670-27F6-9A169AF0A15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Arial" panose="020B0604020202020204" pitchFamily="34" charset="0"/>
              </a:rPr>
              <a:t>Broken Access Controls</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CBE4551D-F23B-1DBD-03F8-F23D88886130}"/>
              </a:ext>
            </a:extLst>
          </p:cNvPr>
          <p:cNvSpPr>
            <a:spLocks noChangeArrowheads="1"/>
          </p:cNvSpPr>
          <p:nvPr/>
        </p:nvSpPr>
        <p:spPr bwMode="auto">
          <a:xfrm>
            <a:off x="247650" y="1066800"/>
            <a:ext cx="11666790" cy="69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Malware Uploads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may upload malicious files (e.g., viruses, trojans) that can infect systems or other users. </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Insufficient File Validation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Weak or missing checks on file type, size, or content can allow dangerous uploads (e.g., disguised      	executables). </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Public Access Misconfiguration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Improper cloud storage settings may expose sensitive files to the public unintentionally. </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Broken Access Controls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might access or overwrite files they shouldn’t if permissions aren’t strictly enforced.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chemeClr val="tx1"/>
                </a:solidFill>
                <a:latin typeface="Times New Roman" panose="02020603050405020304" pitchFamily="18" charset="0"/>
                <a:cs typeface="Times New Roman" panose="02020603050405020304" pitchFamily="18" charset="0"/>
              </a:rPr>
              <a:t>4.  Insecure Upload Channels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Upload on HTTP (instead of HTTPS) can be intercepted or can be seen . As Our HTTP is not as secure as our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HTTPS sites.</a:t>
            </a:r>
            <a:endParaRPr lang="en-US" altLang="en-US" sz="20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1892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AC35E080-8F2F-9256-6467-318FCAEEB8D6}"/>
            </a:ext>
          </a:extLst>
        </p:cNvPr>
        <p:cNvGrpSpPr/>
        <p:nvPr/>
      </p:nvGrpSpPr>
      <p:grpSpPr>
        <a:xfrm>
          <a:off x="0" y="0"/>
          <a:ext cx="0" cy="0"/>
          <a:chOff x="0" y="0"/>
          <a:chExt cx="0" cy="0"/>
        </a:xfrm>
      </p:grpSpPr>
      <p:sp>
        <p:nvSpPr>
          <p:cNvPr id="154" name="Google Shape;154;p19">
            <a:extLst>
              <a:ext uri="{FF2B5EF4-FFF2-40B4-BE49-F238E27FC236}">
                <a16:creationId xmlns:a16="http://schemas.microsoft.com/office/drawing/2014/main" id="{69910EFC-68C3-9B93-6CED-92D0301AC4C8}"/>
              </a:ext>
            </a:extLst>
          </p:cNvPr>
          <p:cNvSpPr txBox="1"/>
          <p:nvPr/>
        </p:nvSpPr>
        <p:spPr>
          <a:xfrm>
            <a:off x="266700" y="787401"/>
            <a:ext cx="11653837" cy="5535612"/>
          </a:xfrm>
          <a:prstGeom prst="rect">
            <a:avLst/>
          </a:prstGeom>
          <a:noFill/>
          <a:ln>
            <a:noFill/>
          </a:ln>
        </p:spPr>
        <p:txBody>
          <a:bodyPr spcFirstLastPara="1" wrap="square" lIns="91425" tIns="45700" rIns="91425" bIns="45700" anchor="t" anchorCtr="0">
            <a:noAutofit/>
          </a:bodyPr>
          <a:lstStyle/>
          <a:p>
            <a:pPr marL="469900" indent="-457200">
              <a:spcBef>
                <a:spcPts val="2150"/>
              </a:spcBef>
              <a:buAutoNum type="arabicPeriod" startAt="5"/>
              <a:tabLst>
                <a:tab pos="368935" algn="l"/>
                <a:tab pos="1384300" algn="l"/>
                <a:tab pos="2802255" algn="l"/>
                <a:tab pos="3094990" algn="l"/>
                <a:tab pos="3667760" algn="l"/>
                <a:tab pos="4268470" algn="l"/>
                <a:tab pos="4884420" algn="l"/>
                <a:tab pos="5366385" algn="l"/>
                <a:tab pos="6338570" algn="l"/>
                <a:tab pos="6805295" algn="l"/>
                <a:tab pos="8134350" algn="l"/>
                <a:tab pos="8496935" algn="l"/>
                <a:tab pos="9451340" algn="l"/>
                <a:tab pos="9780270" algn="l"/>
                <a:tab pos="10930255" algn="l"/>
                <a:tab pos="11155680" algn="l"/>
              </a:tabLst>
            </a:pPr>
            <a:r>
              <a:rPr lang="en-US" sz="2000" b="1" dirty="0">
                <a:latin typeface="Times New Roman" pitchFamily="18" charset="0"/>
                <a:cs typeface="Times New Roman" pitchFamily="18" charset="0"/>
              </a:rPr>
              <a:t>Lack of Virus Scanning</a:t>
            </a:r>
          </a:p>
          <a:p>
            <a:pPr marL="0" lvl="0" indent="0">
              <a:buClr>
                <a:srgbClr val="404040"/>
              </a:buClr>
              <a:buSzPts val="2100"/>
              <a:buFont typeface="Arial" panose="020B0604020202020204" pitchFamily="34" charset="0"/>
              <a:buNone/>
            </a:pPr>
            <a:r>
              <a:rPr lang="en-US" altLang="en-US" sz="2000" dirty="0">
                <a:solidFill>
                  <a:srgbClr val="404040"/>
                </a:solidFill>
                <a:latin typeface="Times New Roman" panose="02020603050405020304" pitchFamily="18" charset="0"/>
                <a:cs typeface="Times New Roman" panose="02020603050405020304" pitchFamily="18" charset="0"/>
                <a:sym typeface="Times New Roman" panose="02020603050405020304"/>
              </a:rPr>
              <a:t>       Without automatic scanning, infected files may remain undetected in storage</a:t>
            </a:r>
          </a:p>
          <a:p>
            <a:pPr marL="0" lvl="0" indent="0">
              <a:lnSpc>
                <a:spcPct val="85000"/>
              </a:lnSpc>
              <a:buClr>
                <a:srgbClr val="404040"/>
              </a:buClr>
              <a:buSzPts val="2100"/>
              <a:buFont typeface="Arial" panose="020B0604020202020204" pitchFamily="34" charset="0"/>
              <a:buNone/>
            </a:pPr>
            <a:endParaRPr lang="en-US" altLang="en-US" sz="2000" dirty="0">
              <a:solidFill>
                <a:srgbClr val="404040"/>
              </a:solidFill>
              <a:latin typeface="Times New Roman" panose="02020603050405020304" pitchFamily="18" charset="0"/>
              <a:cs typeface="Times New Roman" panose="02020603050405020304" pitchFamily="18" charset="0"/>
              <a:sym typeface="Times New Roman" panose="02020603050405020304"/>
            </a:endParaRPr>
          </a:p>
          <a:p>
            <a:pPr marL="457200" lvl="0" indent="-457200">
              <a:lnSpc>
                <a:spcPct val="85000"/>
              </a:lnSpc>
              <a:buClr>
                <a:srgbClr val="404040"/>
              </a:buClr>
              <a:buSzPts val="2100"/>
              <a:buFont typeface="Arial" panose="020B0604020202020204" pitchFamily="34" charset="0"/>
              <a:buAutoNum type="arabicPeriod" startAt="6"/>
            </a:pPr>
            <a:r>
              <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rPr>
              <a:t>Storage Bucket Enumeration</a:t>
            </a:r>
          </a:p>
          <a:p>
            <a:pPr lvl="0">
              <a:lnSpc>
                <a:spcPct val="85000"/>
              </a:lnSpc>
              <a:buClr>
                <a:srgbClr val="404040"/>
              </a:buClr>
              <a:buSzPts val="2100"/>
            </a:pPr>
            <a:r>
              <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rPr>
              <a:t>       </a:t>
            </a:r>
            <a:r>
              <a:rPr lang="en-US" altLang="en-US" sz="2000" dirty="0">
                <a:solidFill>
                  <a:srgbClr val="404040"/>
                </a:solidFill>
                <a:latin typeface="Times New Roman" panose="02020603050405020304" pitchFamily="18" charset="0"/>
                <a:cs typeface="Times New Roman" panose="02020603050405020304" pitchFamily="18" charset="0"/>
                <a:sym typeface="Times New Roman" panose="02020603050405020304"/>
              </a:rPr>
              <a:t>Attackers may guess or brute-force URLs to access files if naming is predictable</a:t>
            </a:r>
          </a:p>
          <a:p>
            <a:pPr lvl="0">
              <a:lnSpc>
                <a:spcPct val="85000"/>
              </a:lnSpc>
              <a:buClr>
                <a:srgbClr val="404040"/>
              </a:buClr>
              <a:buSzPts val="2100"/>
            </a:pPr>
            <a:endPar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endParaRPr>
          </a:p>
          <a:p>
            <a:pPr marL="457200" lvl="0" indent="-457200">
              <a:lnSpc>
                <a:spcPct val="85000"/>
              </a:lnSpc>
              <a:buClr>
                <a:srgbClr val="404040"/>
              </a:buClr>
              <a:buSzPts val="2100"/>
              <a:buAutoNum type="arabicPeriod" startAt="7"/>
            </a:pPr>
            <a:r>
              <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rPr>
              <a:t>Overconsumption of Resources</a:t>
            </a:r>
          </a:p>
          <a:p>
            <a:pPr lvl="0">
              <a:lnSpc>
                <a:spcPct val="85000"/>
              </a:lnSpc>
              <a:buClr>
                <a:srgbClr val="404040"/>
              </a:buClr>
              <a:buSzPts val="2100"/>
            </a:pPr>
            <a:r>
              <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rPr>
              <a:t>       </a:t>
            </a:r>
            <a:r>
              <a:rPr lang="en-US" sz="2000" dirty="0">
                <a:latin typeface="Times New Roman" panose="02020603050405020304" pitchFamily="18" charset="0"/>
                <a:cs typeface="Times New Roman" panose="02020603050405020304" pitchFamily="18" charset="0"/>
              </a:rPr>
              <a:t>Unrestricted uploads can lead to denial-of-service (DoS) by filling up storage or exhausting      bandwidth.</a:t>
            </a:r>
            <a:endParaRPr 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endParaRPr>
          </a:p>
          <a:p>
            <a:pPr lvl="0">
              <a:lnSpc>
                <a:spcPct val="85000"/>
              </a:lnSpc>
              <a:buClr>
                <a:srgbClr val="404040"/>
              </a:buClr>
              <a:buSzPts val="2100"/>
            </a:pPr>
            <a:endPar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endParaRPr>
          </a:p>
          <a:p>
            <a:pPr lvl="0">
              <a:lnSpc>
                <a:spcPct val="85000"/>
              </a:lnSpc>
              <a:buClr>
                <a:srgbClr val="404040"/>
              </a:buClr>
              <a:buSzPts val="2100"/>
            </a:pPr>
            <a:endParaRPr lang="en-US" altLang="en-US" sz="2000" b="1" dirty="0">
              <a:solidFill>
                <a:srgbClr val="404040"/>
              </a:solidFill>
              <a:latin typeface="Times New Roman" panose="02020603050405020304" pitchFamily="18" charset="0"/>
              <a:cs typeface="Times New Roman" panose="02020603050405020304" pitchFamily="18" charset="0"/>
              <a:sym typeface="Times New Roman" panose="02020603050405020304"/>
            </a:endParaRPr>
          </a:p>
        </p:txBody>
      </p:sp>
      <p:sp>
        <p:nvSpPr>
          <p:cNvPr id="155" name="Google Shape;155;p19">
            <a:extLst>
              <a:ext uri="{FF2B5EF4-FFF2-40B4-BE49-F238E27FC236}">
                <a16:creationId xmlns:a16="http://schemas.microsoft.com/office/drawing/2014/main" id="{9A82B208-ABEA-34C0-C6D2-C88D47A85B30}"/>
              </a:ext>
            </a:extLst>
          </p:cNvPr>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3</a:t>
            </a:r>
            <a:r>
              <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rPr>
              <a:t>. </a:t>
            </a: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Challenges</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56" name="Google Shape;156;p19">
            <a:extLst>
              <a:ext uri="{FF2B5EF4-FFF2-40B4-BE49-F238E27FC236}">
                <a16:creationId xmlns:a16="http://schemas.microsoft.com/office/drawing/2014/main" id="{139B9097-82E9-3A95-60D4-94D3AEA57E10}"/>
              </a:ext>
            </a:extLst>
          </p:cNvPr>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dirty="0">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endParaRPr dirty="0"/>
          </a:p>
        </p:txBody>
      </p:sp>
      <p:sp>
        <p:nvSpPr>
          <p:cNvPr id="157" name="Google Shape;157;p19">
            <a:extLst>
              <a:ext uri="{FF2B5EF4-FFF2-40B4-BE49-F238E27FC236}">
                <a16:creationId xmlns:a16="http://schemas.microsoft.com/office/drawing/2014/main" id="{09777BFB-3D54-15DB-469C-5A9DB4A72ED6}"/>
              </a:ext>
            </a:extLst>
          </p:cNvPr>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7</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46150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pPr marL="342900" indent="-342900">
              <a:buFont typeface="Arial" pitchFamily="34" charset="0"/>
              <a:buChar char="•"/>
            </a:pP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4.Related Work / Literature Survey</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8</a:t>
            </a:fld>
            <a:endParaRPr lang="en-US" sz="1400" b="0" i="0" u="none">
              <a:solidFill>
                <a:srgbClr val="FFFFFF"/>
              </a:solidFill>
              <a:latin typeface="Libre Franklin"/>
              <a:ea typeface="Libre Franklin"/>
              <a:cs typeface="Libre Franklin"/>
              <a:sym typeface="Libre Franklin"/>
            </a:endParaRPr>
          </a:p>
        </p:txBody>
      </p:sp>
      <p:pic>
        <p:nvPicPr>
          <p:cNvPr id="3" name="table">
            <a:extLst>
              <a:ext uri="{FF2B5EF4-FFF2-40B4-BE49-F238E27FC236}">
                <a16:creationId xmlns:a16="http://schemas.microsoft.com/office/drawing/2014/main" id="{FA2CC96B-8340-BF7B-2C7C-853C8EC470BD}"/>
              </a:ext>
            </a:extLst>
          </p:cNvPr>
          <p:cNvPicPr>
            <a:picLocks noChangeAspect="1"/>
          </p:cNvPicPr>
          <p:nvPr/>
        </p:nvPicPr>
        <p:blipFill>
          <a:blip r:embed="rId3"/>
          <a:stretch>
            <a:fillRect/>
          </a:stretch>
        </p:blipFill>
        <p:spPr>
          <a:xfrm>
            <a:off x="340518" y="1030224"/>
            <a:ext cx="11506200" cy="5120005"/>
          </a:xfrm>
          <a:prstGeom prst="rect">
            <a:avLst/>
          </a:prstGeom>
        </p:spPr>
      </p:pic>
    </p:spTree>
    <p:extLst>
      <p:ext uri="{BB962C8B-B14F-4D97-AF65-F5344CB8AC3E}">
        <p14:creationId xmlns:p14="http://schemas.microsoft.com/office/powerpoint/2010/main" val="2241367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1" y="1066800"/>
            <a:ext cx="11544300" cy="5372100"/>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342900" marR="0" lvl="0" indent="-342900" algn="l" rtl="0">
              <a:lnSpc>
                <a:spcPct val="85000"/>
              </a:lnSpc>
              <a:spcBef>
                <a:spcPts val="0"/>
              </a:spcBef>
              <a:spcAft>
                <a:spcPts val="0"/>
              </a:spcAft>
              <a:buClr>
                <a:srgbClr val="404040"/>
              </a:buClr>
              <a:buSzPts val="21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Limited Scope of Cloud Service Coverage</a:t>
            </a:r>
          </a:p>
          <a:p>
            <a:pPr marR="0" lvl="0" algn="l" rtl="0">
              <a:lnSpc>
                <a:spcPct val="85000"/>
              </a:lnSpc>
              <a:spcBef>
                <a:spcPts val="0"/>
              </a:spcBef>
              <a:spcAft>
                <a:spcPts val="0"/>
              </a:spcAft>
              <a:buClr>
                <a:srgbClr val="404040"/>
              </a:buClr>
              <a:buSzPts val="2100"/>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Most studies focus on major providers (</a:t>
            </a: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 AWS , Azure) leaving smaller or hybrid cloud platforms                            </a:t>
            </a:r>
          </a:p>
          <a:p>
            <a:pPr marR="0" lvl="0" algn="l" rtl="0">
              <a:lnSpc>
                <a:spcPct val="85000"/>
              </a:lnSpc>
              <a:spcBef>
                <a:spcPts val="0"/>
              </a:spcBef>
              <a:spcAft>
                <a:spcPts val="0"/>
              </a:spcAft>
              <a:buClr>
                <a:srgbClr val="404040"/>
              </a:buClr>
              <a:buSzPts val="2100"/>
            </a:pPr>
            <a:r>
              <a:rPr lang="en-US" sz="2000" dirty="0">
                <a:latin typeface="Times New Roman" panose="02020603050405020304" pitchFamily="18" charset="0"/>
                <a:cs typeface="Times New Roman" panose="02020603050405020304" pitchFamily="18" charset="0"/>
              </a:rPr>
              <a:t>      underexplored</a:t>
            </a:r>
            <a:endParaRPr sz="2000" b="1" dirty="0">
              <a:latin typeface="Times New Roman" panose="02020603050405020304" pitchFamily="18" charset="0"/>
              <a:cs typeface="Times New Roman" panose="02020603050405020304" pitchFamily="18" charset="0"/>
            </a:endParaRPr>
          </a:p>
          <a:p>
            <a:pPr marR="0" lvl="0" algn="l" rtl="0">
              <a:lnSpc>
                <a:spcPct val="85000"/>
              </a:lnSpc>
              <a:spcBef>
                <a:spcPts val="0"/>
              </a:spcBef>
              <a:spcAft>
                <a:spcPts val="0"/>
              </a:spcAft>
              <a:buClr>
                <a:schemeClr val="dk1"/>
              </a:buClr>
              <a:buSzPts val="2100"/>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285750" marR="0" lvl="0" indent="-285750" algn="l" rtl="0">
              <a:lnSpc>
                <a:spcPct val="85000"/>
              </a:lnSpc>
              <a:spcBef>
                <a:spcPts val="0"/>
              </a:spcBef>
              <a:spcAft>
                <a:spcPts val="0"/>
              </a:spcAft>
              <a:buClr>
                <a:srgbClr val="404040"/>
              </a:buClr>
              <a:buSzPts val="2100"/>
              <a:buFont typeface="Arial" pitchFamily="34" charset="0"/>
              <a:buChar char="•"/>
            </a:pPr>
            <a:r>
              <a:rPr lang="en-US" dirty="0"/>
              <a:t> </a:t>
            </a:r>
            <a:r>
              <a:rPr lang="en-US" b="1" dirty="0">
                <a:latin typeface="Times New Roman" panose="02020603050405020304" pitchFamily="18" charset="0"/>
                <a:cs typeface="Times New Roman" panose="02020603050405020304" pitchFamily="18" charset="0"/>
              </a:rPr>
              <a:t>Static vs. Dynamic Capability Inference</a:t>
            </a:r>
          </a:p>
          <a:p>
            <a:pPr marR="0" lvl="0" algn="l" rtl="0">
              <a:lnSpc>
                <a:spcPct val="85000"/>
              </a:lnSpc>
              <a:spcBef>
                <a:spcPts val="0"/>
              </a:spcBef>
              <a:spcAft>
                <a:spcPts val="0"/>
              </a:spcAft>
              <a:buClr>
                <a:srgbClr val="404040"/>
              </a:buClr>
              <a:buSzPts val="2100"/>
            </a:pPr>
            <a:r>
              <a:rPr lang="en-US"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Current tools often rely on static analysis; dynamic, real-time inference of exposed capabilities is still  </a:t>
            </a:r>
          </a:p>
          <a:p>
            <a:pPr marR="0" lvl="0" algn="l" rtl="0">
              <a:lnSpc>
                <a:spcPct val="85000"/>
              </a:lnSpc>
              <a:spcBef>
                <a:spcPts val="0"/>
              </a:spcBef>
              <a:spcAft>
                <a:spcPts val="0"/>
              </a:spcAft>
              <a:buClr>
                <a:srgbClr val="404040"/>
              </a:buClr>
              <a:buSzPts val="2100"/>
            </a:pPr>
            <a:r>
              <a:rPr lang="en-US" sz="2000" dirty="0">
                <a:latin typeface="Times New Roman" panose="02020603050405020304" pitchFamily="18" charset="0"/>
                <a:cs typeface="Times New Roman" panose="02020603050405020304" pitchFamily="18" charset="0"/>
              </a:rPr>
              <a:t>      immature.</a:t>
            </a:r>
          </a:p>
          <a:p>
            <a:pPr marR="0" lvl="0" algn="l" rtl="0">
              <a:lnSpc>
                <a:spcPct val="85000"/>
              </a:lnSpc>
              <a:spcBef>
                <a:spcPts val="0"/>
              </a:spcBef>
              <a:spcAft>
                <a:spcPts val="0"/>
              </a:spcAft>
              <a:buClr>
                <a:srgbClr val="404040"/>
              </a:buClr>
              <a:buSzPts val="2100"/>
            </a:pPr>
            <a:endParaRPr sz="2000" dirty="0">
              <a:latin typeface="Times New Roman" panose="02020603050405020304" pitchFamily="18" charset="0"/>
              <a:cs typeface="Times New Roman" panose="02020603050405020304" pitchFamily="18" charset="0"/>
            </a:endParaRPr>
          </a:p>
          <a:p>
            <a:pPr marL="342900" indent="-342900" algn="l" rtl="0">
              <a:lnSpc>
                <a:spcPct val="85000"/>
              </a:lnSpc>
              <a:buClr>
                <a:srgbClr val="404040"/>
              </a:buClr>
              <a:buSzPts val="2400"/>
              <a:buFont typeface="Arial" pitchFamily="34" charset="0"/>
              <a:buChar char="•"/>
            </a:pPr>
            <a:r>
              <a:rPr lang="en-US" altLang="en-US" sz="2000" b="1" dirty="0">
                <a:latin typeface="Times New Roman" panose="02020603050405020304" pitchFamily="18" charset="0"/>
                <a:cs typeface="Times New Roman" panose="02020603050405020304" pitchFamily="18" charset="0"/>
              </a:rPr>
              <a:t>Lack of Context-Aware Risk Assessment</a:t>
            </a:r>
          </a:p>
          <a:p>
            <a:pPr algn="l" rtl="0">
              <a:lnSpc>
                <a:spcPct val="85000"/>
              </a:lnSpc>
              <a:buClr>
                <a:srgbClr val="404040"/>
              </a:buClr>
              <a:buSzPts val="2400"/>
            </a:pP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Automated tools struggle to factor in business context , user roles , and data sensitivity when evaluating   </a:t>
            </a:r>
          </a:p>
          <a:p>
            <a:pPr algn="l" rtl="0">
              <a:lnSpc>
                <a:spcPct val="85000"/>
              </a:lnSpc>
              <a:buClr>
                <a:srgbClr val="404040"/>
              </a:buClr>
              <a:buSzPts val="2400"/>
            </a:pPr>
            <a:r>
              <a:rPr lang="en-US" altLang="en-US" sz="2000" dirty="0">
                <a:latin typeface="Times New Roman" panose="02020603050405020304" pitchFamily="18" charset="0"/>
                <a:cs typeface="Times New Roman" panose="02020603050405020304" pitchFamily="18" charset="0"/>
              </a:rPr>
              <a:t>      risks</a:t>
            </a:r>
            <a:endParaRPr lang="en-US" altLang="en-US" sz="2000" b="1" dirty="0">
              <a:latin typeface="Times New Roman" panose="02020603050405020304" pitchFamily="18" charset="0"/>
              <a:cs typeface="Times New Roman" panose="02020603050405020304" pitchFamily="18" charset="0"/>
            </a:endParaRPr>
          </a:p>
          <a:p>
            <a:pPr algn="l" rtl="0">
              <a:lnSpc>
                <a:spcPct val="85000"/>
              </a:lnSpc>
              <a:buClr>
                <a:srgbClr val="404040"/>
              </a:buClr>
              <a:buSzPts val="2400"/>
            </a:pPr>
            <a:r>
              <a:rPr lang="en-US" altLang="en-US" sz="2000" b="1" dirty="0">
                <a:latin typeface="Times New Roman" panose="02020603050405020304" pitchFamily="18" charset="0"/>
                <a:cs typeface="Times New Roman" panose="02020603050405020304" pitchFamily="18" charset="0"/>
              </a:rPr>
              <a:t>      </a:t>
            </a:r>
          </a:p>
          <a:p>
            <a:pPr marR="0" lvl="0" algn="l" rtl="0">
              <a:lnSpc>
                <a:spcPct val="85000"/>
              </a:lnSpc>
              <a:spcBef>
                <a:spcPts val="0"/>
              </a:spcBef>
              <a:spcAft>
                <a:spcPts val="0"/>
              </a:spcAft>
              <a:buClr>
                <a:srgbClr val="404040"/>
              </a:buClr>
              <a:buSzPts val="2400"/>
            </a:pPr>
            <a:endParaRPr sz="2000" dirty="0"/>
          </a:p>
        </p:txBody>
      </p:sp>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5.Research Gap</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9</a:t>
            </a:fld>
            <a:endParaRPr lang="en-US" sz="1400" b="0" i="0" u="none">
              <a:solidFill>
                <a:srgbClr val="FFFFFF"/>
              </a:solidFill>
              <a:latin typeface="Libre Franklin"/>
              <a:ea typeface="Libre Franklin"/>
              <a:cs typeface="Libre Franklin"/>
              <a:sym typeface="Libre Franklin"/>
            </a:endParaRPr>
          </a:p>
        </p:txBody>
      </p:sp>
      <p:sp>
        <p:nvSpPr>
          <p:cNvPr id="6" name="Rectangle 5">
            <a:extLst>
              <a:ext uri="{FF2B5EF4-FFF2-40B4-BE49-F238E27FC236}">
                <a16:creationId xmlns:a16="http://schemas.microsoft.com/office/drawing/2014/main" id="{B85C2F04-178B-01FA-E0A8-0F32F7A4DD9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a:ln>
                  <a:noFill/>
                </a:ln>
                <a:solidFill>
                  <a:schemeClr val="tx1"/>
                </a:solidFill>
                <a:effectLst/>
                <a:latin typeface="Arial" panose="020B0604020202020204" pitchFamily="34" charset="0"/>
              </a:rPr>
              <a:t>Automated tools struggle to factor in business context, user roles, and data sensitivity when evaluating risks.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131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r>
              <a:rPr lang="en-US" sz="2000" b="1" dirty="0">
                <a:latin typeface="Times New Roman" pitchFamily="18" charset="0"/>
                <a:cs typeface="Times New Roman" pitchFamily="18" charset="0"/>
              </a:rPr>
              <a:t>Algorithm (Step-wise)</a:t>
            </a:r>
          </a:p>
          <a:p>
            <a:pPr marL="457200" indent="-457200">
              <a:buAutoNum type="arabicPeriod"/>
            </a:pPr>
            <a:r>
              <a:rPr lang="en-IN" sz="2000" b="1" dirty="0">
                <a:latin typeface="Times New Roman" panose="02020603050405020304" pitchFamily="18" charset="0"/>
                <a:cs typeface="Times New Roman" panose="02020603050405020304" pitchFamily="18" charset="0"/>
              </a:rPr>
              <a:t>Request Upload Credential:</a:t>
            </a:r>
          </a:p>
          <a:p>
            <a:pPr marL="342900" indent="-342900">
              <a:buFont typeface="Arial" panose="020B0604020202020204" pitchFamily="34" charset="0"/>
              <a:buChar char="•"/>
            </a:pPr>
            <a:r>
              <a:rPr lang="en-IN" sz="2000" dirty="0">
                <a:latin typeface="Times New Roman" pitchFamily="18" charset="0"/>
                <a:cs typeface="Times New Roman" pitchFamily="18" charset="0"/>
              </a:rPr>
              <a:t> </a:t>
            </a:r>
            <a:r>
              <a:rPr lang="en-US" sz="2000" dirty="0">
                <a:latin typeface="Times New Roman" panose="02020603050405020304" pitchFamily="18" charset="0"/>
                <a:cs typeface="Times New Roman" panose="02020603050405020304" pitchFamily="18" charset="0"/>
              </a:rPr>
              <a:t>User sends a request to the web server asking for permission to upload a file.</a:t>
            </a:r>
          </a:p>
          <a:p>
            <a:endParaRPr lang="en-US" sz="2000" dirty="0">
              <a:latin typeface="Times New Roman" panose="02020603050405020304" pitchFamily="18" charset="0"/>
              <a:cs typeface="Times New Roman" panose="02020603050405020304" pitchFamily="18" charset="0"/>
            </a:endParaRPr>
          </a:p>
          <a:p>
            <a:pPr marL="457200" indent="-457200">
              <a:buAutoNum type="arabicPeriod" startAt="2"/>
            </a:pPr>
            <a:r>
              <a:rPr lang="en-US" sz="2000" b="1" dirty="0">
                <a:latin typeface="Times New Roman" panose="02020603050405020304" pitchFamily="18" charset="0"/>
                <a:cs typeface="Times New Roman" panose="02020603050405020304" pitchFamily="18" charset="0"/>
              </a:rPr>
              <a:t>Generate or Request Temporary Credential: </a:t>
            </a:r>
          </a:p>
          <a:p>
            <a:pPr marL="342900" lvl="1" indent="-342900">
              <a:buFont typeface="Arial" pitchFamily="34" charset="0"/>
              <a:buChar char="•"/>
            </a:pPr>
            <a:r>
              <a:rPr lang="en-US" sz="2000" dirty="0">
                <a:latin typeface="Times New Roman" panose="02020603050405020304" pitchFamily="18" charset="0"/>
                <a:cs typeface="Times New Roman" panose="02020603050405020304" pitchFamily="18" charset="0"/>
              </a:rPr>
              <a:t>Generates a token using the user's existing credentials, or</a:t>
            </a:r>
            <a:r>
              <a:rPr lang="en-US" sz="2000" dirty="0"/>
              <a:t> </a:t>
            </a:r>
          </a:p>
          <a:p>
            <a:pPr marL="342900" lvl="1" indent="-342900">
              <a:buFont typeface="Arial" pitchFamily="34" charset="0"/>
              <a:buChar char="•"/>
            </a:pPr>
            <a:r>
              <a:rPr lang="en-US" sz="2000" dirty="0">
                <a:latin typeface="Times New Roman" panose="02020603050405020304" pitchFamily="18" charset="0"/>
                <a:cs typeface="Times New Roman" panose="02020603050405020304" pitchFamily="18" charset="0"/>
              </a:rPr>
              <a:t>Requests a temporary credential from the cloud storage provider.</a:t>
            </a:r>
          </a:p>
          <a:p>
            <a:pPr lvl="1"/>
            <a:endParaRPr lang="en-US" sz="2000" dirty="0">
              <a:latin typeface="Times New Roman" panose="02020603050405020304" pitchFamily="18" charset="0"/>
              <a:cs typeface="Times New Roman" panose="02020603050405020304" pitchFamily="18" charset="0"/>
            </a:endParaRPr>
          </a:p>
          <a:p>
            <a:pPr marL="457200" indent="-457200">
              <a:buAutoNum type="arabicPeriod" startAt="3"/>
            </a:pPr>
            <a:r>
              <a:rPr lang="en-IN" sz="2000" b="1" dirty="0">
                <a:latin typeface="Times New Roman" panose="02020603050405020304" pitchFamily="18" charset="0"/>
                <a:cs typeface="Times New Roman" panose="02020603050405020304" pitchFamily="18" charset="0"/>
              </a:rPr>
              <a:t>Receive Temporary Credential: </a:t>
            </a:r>
          </a:p>
          <a:p>
            <a:pPr marL="342900" indent="-342900">
              <a:buFont typeface="Arial" panose="020B0604020202020204" pitchFamily="34" charset="0"/>
              <a:buChar char="•"/>
            </a:pPr>
            <a:r>
              <a:rPr lang="en-US" sz="2000" dirty="0">
                <a:latin typeface="Times New Roman" pitchFamily="18" charset="0"/>
                <a:cs typeface="Times New Roman" pitchFamily="18" charset="0"/>
              </a:rPr>
              <a:t> Cloud storage service returns a temporary credential to the web server</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pPr marL="457200" indent="-457200">
              <a:buAutoNum type="arabicPeriod" startAt="4"/>
            </a:pPr>
            <a:r>
              <a:rPr lang="en-US" sz="2000" b="1" dirty="0">
                <a:latin typeface="Times New Roman" panose="02020603050405020304" pitchFamily="18" charset="0"/>
                <a:cs typeface="Times New Roman" panose="02020603050405020304" pitchFamily="18" charset="0"/>
              </a:rPr>
              <a:t>Upload File to Cloud Storage: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User uploads the file directly to the cloud storage using the received credential</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AutoNum type="arabicPeriod" startAt="5"/>
            </a:pPr>
            <a:r>
              <a:rPr lang="en-US" sz="2000" b="1" dirty="0">
                <a:latin typeface="Times New Roman" panose="02020603050405020304" pitchFamily="18" charset="0"/>
                <a:cs typeface="Times New Roman" panose="02020603050405020304" pitchFamily="18" charset="0"/>
              </a:rPr>
              <a:t>Cloud Callback to Web Server:</a:t>
            </a:r>
          </a:p>
          <a:p>
            <a:pPr marL="457200"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Cloud storage service sends a callback to the web server indicating that the upload is complete.</a:t>
            </a:r>
            <a:endParaRPr lang="en-US" sz="2000" b="1"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6.Algorithm</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10</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676388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9B9E4F6E-4541-B182-25E7-A5DAE48603D7}"/>
            </a:ext>
          </a:extLst>
        </p:cNvPr>
        <p:cNvGrpSpPr/>
        <p:nvPr/>
      </p:nvGrpSpPr>
      <p:grpSpPr>
        <a:xfrm>
          <a:off x="0" y="0"/>
          <a:ext cx="0" cy="0"/>
          <a:chOff x="0" y="0"/>
          <a:chExt cx="0" cy="0"/>
        </a:xfrm>
      </p:grpSpPr>
      <p:sp>
        <p:nvSpPr>
          <p:cNvPr id="164" name="Google Shape;164;p20">
            <a:extLst>
              <a:ext uri="{FF2B5EF4-FFF2-40B4-BE49-F238E27FC236}">
                <a16:creationId xmlns:a16="http://schemas.microsoft.com/office/drawing/2014/main" id="{392505AC-3F01-095B-368B-E6F469E4EAAB}"/>
              </a:ext>
            </a:extLst>
          </p:cNvPr>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r>
              <a:rPr lang="en-US" sz="2000" b="1" dirty="0">
                <a:latin typeface="Times New Roman" pitchFamily="18" charset="0"/>
                <a:cs typeface="Times New Roman" pitchFamily="18" charset="0"/>
              </a:rPr>
              <a:t>Algorithm (Step-wise)</a:t>
            </a:r>
          </a:p>
          <a:p>
            <a:endParaRPr lang="en-US" sz="2000" b="1" dirty="0">
              <a:latin typeface="Times New Roman" pitchFamily="18" charset="0"/>
              <a:cs typeface="Times New Roman" pitchFamily="18" charset="0"/>
            </a:endParaRPr>
          </a:p>
          <a:p>
            <a:r>
              <a:rPr lang="en-IN" sz="2000" b="1" dirty="0">
                <a:latin typeface="Times New Roman" panose="02020603050405020304" pitchFamily="18" charset="0"/>
                <a:cs typeface="Times New Roman" panose="02020603050405020304" pitchFamily="18" charset="0"/>
              </a:rPr>
              <a:t>6.   Acknowledge Upload Completion: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 server processes the callback and confirms that the upload was successful.</a:t>
            </a:r>
          </a:p>
          <a:p>
            <a:endParaRPr lang="en-US" sz="2000" dirty="0">
              <a:latin typeface="Times New Roman" panose="02020603050405020304" pitchFamily="18" charset="0"/>
              <a:cs typeface="Times New Roman" panose="02020603050405020304" pitchFamily="18" charset="0"/>
            </a:endParaRPr>
          </a:p>
          <a:p>
            <a:pPr marL="457200" lvl="1" indent="-457200">
              <a:buAutoNum type="arabicPeriod" startAt="7"/>
            </a:pPr>
            <a:r>
              <a:rPr lang="en-IN" sz="2000" b="1" dirty="0">
                <a:latin typeface="Times New Roman" panose="02020603050405020304" pitchFamily="18" charset="0"/>
                <a:cs typeface="Times New Roman" panose="02020603050405020304" pitchFamily="18" charset="0"/>
              </a:rPr>
              <a:t>Notify User: </a:t>
            </a:r>
          </a:p>
          <a:p>
            <a:pPr marL="342900" lvl="1" indent="-342900">
              <a:buFont typeface="Arial" panose="020B0604020202020204" pitchFamily="34" charset="0"/>
              <a:buChar char="•"/>
            </a:pPr>
            <a:r>
              <a:rPr lang="en-US" sz="2000" dirty="0">
                <a:latin typeface="Times New Roman" pitchFamily="18" charset="0"/>
                <a:cs typeface="Times New Roman" pitchFamily="18" charset="0"/>
              </a:rPr>
              <a:t> Web server sends a response to the user confirming that the upload is finished.</a:t>
            </a:r>
          </a:p>
          <a:p>
            <a:pPr lvl="1"/>
            <a:endParaRPr lang="en-US" sz="2000" dirty="0">
              <a:latin typeface="Times New Roman" pitchFamily="18" charset="0"/>
              <a:cs typeface="Times New Roman" pitchFamily="18" charset="0"/>
            </a:endParaRPr>
          </a:p>
          <a:p>
            <a:pPr marL="457200" indent="-457200">
              <a:buAutoNum type="arabicPeriod" startAt="8"/>
            </a:pPr>
            <a:r>
              <a:rPr lang="en-US" sz="2000" b="1" dirty="0">
                <a:latin typeface="Times New Roman" pitchFamily="18" charset="0"/>
                <a:cs typeface="Times New Roman" pitchFamily="18" charset="0"/>
              </a:rPr>
              <a:t>Enable File Management: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 can now manage (view, delete, share) the uploaded files on the cloud storage platform..</a:t>
            </a:r>
            <a:endParaRPr lang="en-US" sz="2000" b="1"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a:extLst>
              <a:ext uri="{FF2B5EF4-FFF2-40B4-BE49-F238E27FC236}">
                <a16:creationId xmlns:a16="http://schemas.microsoft.com/office/drawing/2014/main" id="{03BE14E3-74EE-8F75-9D0A-2A568B46E62E}"/>
              </a:ext>
            </a:extLst>
          </p:cNvPr>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6.Algorithm</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a:extLst>
              <a:ext uri="{FF2B5EF4-FFF2-40B4-BE49-F238E27FC236}">
                <a16:creationId xmlns:a16="http://schemas.microsoft.com/office/drawing/2014/main" id="{F36D1987-2758-EAB3-1972-C8AA2BD586C3}"/>
              </a:ext>
            </a:extLst>
          </p:cNvPr>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a:extLst>
              <a:ext uri="{FF2B5EF4-FFF2-40B4-BE49-F238E27FC236}">
                <a16:creationId xmlns:a16="http://schemas.microsoft.com/office/drawing/2014/main" id="{E7B7F2F1-0CD4-2180-5ACF-DFEAB160BB62}"/>
              </a:ext>
            </a:extLst>
          </p:cNvPr>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11</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20731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917575"/>
            <a:ext cx="11653837" cy="5292725"/>
          </a:xfrm>
          <a:prstGeom prst="rect">
            <a:avLst/>
          </a:prstGeom>
          <a:noFill/>
          <a:ln>
            <a:noFill/>
          </a:ln>
        </p:spPr>
        <p:txBody>
          <a:bodyPr spcFirstLastPara="1" wrap="square" lIns="91425" tIns="45700" rIns="91425" bIns="45700" anchor="t" anchorCtr="0">
            <a:noAutofit/>
          </a:bodyPr>
          <a:lstStyle/>
          <a:p>
            <a:pPr marR="0" lvl="0" algn="l" rtl="0">
              <a:lnSpc>
                <a:spcPct val="85000"/>
              </a:lnSpc>
              <a:spcBef>
                <a:spcPts val="0"/>
              </a:spcBef>
              <a:spcAft>
                <a:spcPts val="0"/>
              </a:spcAft>
              <a:buClr>
                <a:srgbClr val="404040"/>
              </a:buClr>
              <a:buSzPts val="2400"/>
            </a:pPr>
            <a:endParaRPr dirty="0"/>
          </a:p>
          <a:p>
            <a:pPr marL="356870" lvl="1" indent="-344170">
              <a:lnSpc>
                <a:spcPts val="2330"/>
              </a:lnSpc>
              <a:spcBef>
                <a:spcPts val="2080"/>
              </a:spcBef>
              <a:buClr>
                <a:srgbClr val="404040"/>
              </a:buClr>
              <a:buFont typeface="Microsoft Sans Serif"/>
              <a:buChar char="•"/>
              <a:tabLst>
                <a:tab pos="356870" algn="l"/>
                <a:tab pos="1408430" algn="l"/>
                <a:tab pos="1896745" algn="l"/>
                <a:tab pos="2933065" algn="l"/>
                <a:tab pos="3609975" algn="l"/>
                <a:tab pos="4674235" algn="l"/>
                <a:tab pos="5384165" algn="l"/>
                <a:tab pos="6435725" algn="l"/>
                <a:tab pos="6924040" algn="l"/>
                <a:tab pos="7649209" algn="l"/>
                <a:tab pos="8552180" algn="l"/>
                <a:tab pos="9542780" algn="l"/>
                <a:tab pos="9984740" algn="l"/>
                <a:tab pos="10722610" algn="l"/>
                <a:tab pos="11298555" algn="l"/>
              </a:tabLst>
            </a:pPr>
            <a:r>
              <a:rPr lang="en-US" sz="2000" b="1" spc="-10" dirty="0">
                <a:latin typeface="Times New Roman" panose="02020603050405020304" pitchFamily="18" charset="0"/>
                <a:cs typeface="Times New Roman" panose="02020603050405020304" pitchFamily="18" charset="0"/>
              </a:rPr>
              <a:t>Analyze</a:t>
            </a:r>
            <a:r>
              <a:rPr lang="en-US" sz="2000" b="1" dirty="0">
                <a:latin typeface="Times New Roman" panose="02020603050405020304" pitchFamily="18" charset="0"/>
                <a:cs typeface="Times New Roman" panose="02020603050405020304" pitchFamily="18" charset="0"/>
              </a:rPr>
              <a:t>	</a:t>
            </a:r>
            <a:r>
              <a:rPr lang="en-US" sz="2000" b="1" spc="-25" dirty="0">
                <a:latin typeface="Times New Roman" panose="02020603050405020304" pitchFamily="18" charset="0"/>
                <a:cs typeface="Times New Roman" panose="02020603050405020304" pitchFamily="18" charset="0"/>
              </a:rPr>
              <a:t>the</a:t>
            </a:r>
            <a:r>
              <a:rPr lang="en-US" sz="2000" b="1"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security</a:t>
            </a:r>
            <a:r>
              <a:rPr lang="en-US" sz="2000" b="1" dirty="0">
                <a:latin typeface="Times New Roman" panose="02020603050405020304" pitchFamily="18" charset="0"/>
                <a:cs typeface="Times New Roman" panose="02020603050405020304" pitchFamily="18" charset="0"/>
              </a:rPr>
              <a:t>	</a:t>
            </a:r>
            <a:r>
              <a:rPr lang="en-US" sz="2000" b="1" spc="-20" dirty="0">
                <a:latin typeface="Times New Roman" panose="02020603050405020304" pitchFamily="18" charset="0"/>
                <a:cs typeface="Times New Roman" panose="02020603050405020304" pitchFamily="18" charset="0"/>
              </a:rPr>
              <a:t>risks</a:t>
            </a:r>
            <a:r>
              <a:rPr lang="en-US" sz="2000" b="1"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involved</a:t>
            </a:r>
            <a:r>
              <a:rPr lang="en-US" sz="200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when</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websites</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use</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cloud</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storage</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services</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for</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direct</a:t>
            </a:r>
            <a:r>
              <a:rPr lang="en-US" sz="200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user file</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uploads.</a:t>
            </a:r>
            <a:endParaRPr lang="en-US" altLang="en-US" sz="2000" dirty="0">
              <a:latin typeface="Times New Roman" panose="02020603050405020304" pitchFamily="18" charset="0"/>
              <a:cs typeface="Times New Roman" panose="02020603050405020304" pitchFamily="18" charset="0"/>
            </a:endParaRPr>
          </a:p>
          <a:p>
            <a:pPr marL="356870" lvl="1" indent="-344170">
              <a:lnSpc>
                <a:spcPts val="2330"/>
              </a:lnSpc>
              <a:spcBef>
                <a:spcPts val="1780"/>
              </a:spcBef>
              <a:buClr>
                <a:srgbClr val="404040"/>
              </a:buClr>
              <a:buFont typeface="Microsoft Sans Serif"/>
              <a:buChar char="•"/>
              <a:tabLst>
                <a:tab pos="356870" algn="l"/>
                <a:tab pos="1402715" algn="l"/>
                <a:tab pos="1972945" algn="l"/>
                <a:tab pos="3271520" algn="l"/>
                <a:tab pos="5042535" algn="l"/>
                <a:tab pos="5585460" algn="l"/>
                <a:tab pos="6231890" algn="l"/>
                <a:tab pos="6893559" algn="l"/>
                <a:tab pos="7417434" algn="l"/>
                <a:tab pos="8003540" algn="l"/>
                <a:tab pos="8874760" algn="l"/>
                <a:tab pos="9886950" algn="l"/>
                <a:tab pos="11097895" algn="l"/>
              </a:tabLst>
            </a:pPr>
            <a:r>
              <a:rPr lang="en-US" sz="2000" b="1" spc="-10" dirty="0">
                <a:latin typeface="Times New Roman" panose="02020603050405020304" pitchFamily="18" charset="0"/>
                <a:cs typeface="Times New Roman" panose="02020603050405020304" pitchFamily="18" charset="0"/>
              </a:rPr>
              <a:t>Identify</a:t>
            </a:r>
            <a:r>
              <a:rPr lang="en-US" sz="2000" b="1" dirty="0">
                <a:latin typeface="Times New Roman" panose="02020603050405020304" pitchFamily="18" charset="0"/>
                <a:cs typeface="Times New Roman" panose="02020603050405020304" pitchFamily="18" charset="0"/>
              </a:rPr>
              <a:t>	</a:t>
            </a:r>
            <a:r>
              <a:rPr lang="en-US" sz="2000" b="1" spc="-25" dirty="0">
                <a:latin typeface="Times New Roman" panose="02020603050405020304" pitchFamily="18" charset="0"/>
                <a:cs typeface="Times New Roman" panose="02020603050405020304" pitchFamily="18" charset="0"/>
              </a:rPr>
              <a:t>and</a:t>
            </a:r>
            <a:r>
              <a:rPr lang="en-US" sz="2000" b="1"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categorize</a:t>
            </a:r>
            <a:r>
              <a:rPr lang="en-US" sz="2000" b="1"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vulnerabilities</a:t>
            </a:r>
            <a:r>
              <a:rPr lang="en-US" sz="2000" b="1"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that</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arise</a:t>
            </a:r>
            <a:r>
              <a:rPr lang="en-US" sz="200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from</a:t>
            </a:r>
            <a:r>
              <a:rPr lang="en-US" sz="200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this</a:t>
            </a:r>
            <a:r>
              <a:rPr lang="en-US" sz="2000"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upload</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method,</a:t>
            </a:r>
            <a:r>
              <a:rPr lang="en-US" sz="200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especially those </a:t>
            </a:r>
            <a:r>
              <a:rPr lang="en-US" sz="2000" dirty="0">
                <a:latin typeface="Times New Roman" panose="02020603050405020304" pitchFamily="18" charset="0"/>
                <a:cs typeface="Times New Roman" panose="02020603050405020304" pitchFamily="18" charset="0"/>
              </a:rPr>
              <a:t>affecting</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authentication,</a:t>
            </a:r>
            <a:r>
              <a:rPr lang="en-US" sz="2000" spc="-3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authorization,</a:t>
            </a:r>
            <a:r>
              <a:rPr lang="en-US" sz="2000" spc="-3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data</a:t>
            </a:r>
            <a:r>
              <a:rPr lang="en-US" sz="2000" spc="-6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integrity</a:t>
            </a:r>
            <a:endParaRPr lang="en-US" sz="2000" dirty="0">
              <a:latin typeface="Times New Roman" panose="02020603050405020304" pitchFamily="18" charset="0"/>
              <a:cs typeface="Times New Roman" panose="02020603050405020304" pitchFamily="18" charset="0"/>
            </a:endParaRPr>
          </a:p>
          <a:p>
            <a:pPr marL="342900" lvl="0" indent="-342900" algn="just">
              <a:lnSpc>
                <a:spcPct val="85000"/>
              </a:lnSpc>
              <a:buClr>
                <a:srgbClr val="404040"/>
              </a:buClr>
              <a:buSzPts val="21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85000"/>
              </a:lnSpc>
              <a:buClr>
                <a:srgbClr val="404040"/>
              </a:buClr>
              <a:buSzPts val="21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Evaluate</a:t>
            </a:r>
            <a:r>
              <a:rPr lang="en-US" sz="2000" b="1" spc="180"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real-</a:t>
            </a:r>
            <a:r>
              <a:rPr lang="en-US" sz="2000" b="1" dirty="0">
                <a:latin typeface="Times New Roman" panose="02020603050405020304" pitchFamily="18" charset="0"/>
                <a:cs typeface="Times New Roman" panose="02020603050405020304" pitchFamily="18" charset="0"/>
              </a:rPr>
              <a:t>world</a:t>
            </a:r>
            <a:r>
              <a:rPr lang="en-US" sz="2000" b="1" spc="17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websites</a:t>
            </a:r>
            <a:r>
              <a:rPr lang="en-US" sz="2000" b="1" spc="1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understand</a:t>
            </a:r>
            <a:r>
              <a:rPr lang="en-US" sz="2000" spc="1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a:t>
            </a:r>
            <a:r>
              <a:rPr lang="en-US" sz="2000" spc="1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widespread</a:t>
            </a:r>
            <a:r>
              <a:rPr lang="en-US" sz="2000" spc="1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these</a:t>
            </a:r>
            <a:r>
              <a:rPr lang="en-US" sz="2000" spc="1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risks</a:t>
            </a:r>
            <a:r>
              <a:rPr lang="en-US" sz="2000" spc="19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 and</a:t>
            </a:r>
            <a:r>
              <a:rPr lang="en-US" sz="2000" spc="1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how</a:t>
            </a:r>
            <a:r>
              <a:rPr lang="en-US" sz="2000" spc="1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they</a:t>
            </a:r>
            <a:r>
              <a:rPr lang="en-US" sz="2000" spc="1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impact</a:t>
            </a:r>
            <a:r>
              <a:rPr lang="en-US" sz="2000" spc="185"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user </a:t>
            </a:r>
            <a:r>
              <a:rPr lang="en-US" sz="2000" dirty="0">
                <a:latin typeface="Times New Roman" panose="02020603050405020304" pitchFamily="18" charset="0"/>
                <a:cs typeface="Times New Roman" panose="02020603050405020304" pitchFamily="18" charset="0"/>
              </a:rPr>
              <a:t>data</a:t>
            </a:r>
            <a:r>
              <a:rPr lang="en-US" sz="2000" spc="-10" dirty="0">
                <a:latin typeface="Times New Roman" panose="02020603050405020304" pitchFamily="18" charset="0"/>
                <a:cs typeface="Times New Roman" panose="02020603050405020304" pitchFamily="18" charset="0"/>
              </a:rPr>
              <a:t> protection.</a:t>
            </a:r>
            <a:endParaRPr lang="en-US" altLang="en-US" sz="2000" dirty="0">
              <a:latin typeface="Times New Roman" panose="02020603050405020304" pitchFamily="18" charset="0"/>
              <a:cs typeface="Times New Roman" panose="02020603050405020304" pitchFamily="18" charset="0"/>
            </a:endParaRPr>
          </a:p>
          <a:p>
            <a:pPr marL="356870" lvl="1" indent="-344170">
              <a:lnSpc>
                <a:spcPts val="2330"/>
              </a:lnSpc>
              <a:spcBef>
                <a:spcPts val="1739"/>
              </a:spcBef>
              <a:buClr>
                <a:srgbClr val="404040"/>
              </a:buClr>
              <a:buFont typeface="Microsoft Sans Serif"/>
              <a:buChar char="•"/>
              <a:tabLst>
                <a:tab pos="356870" algn="l"/>
              </a:tabLst>
            </a:pPr>
            <a:r>
              <a:rPr lang="en-US" sz="2000" b="1" dirty="0">
                <a:latin typeface="Times New Roman" panose="02020603050405020304" pitchFamily="18" charset="0"/>
                <a:cs typeface="Times New Roman" panose="02020603050405020304" pitchFamily="18" charset="0"/>
              </a:rPr>
              <a:t>Raise</a:t>
            </a:r>
            <a:r>
              <a:rPr lang="en-US" sz="2000" b="1" spc="29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awareness</a:t>
            </a:r>
            <a:r>
              <a:rPr lang="en-US" sz="2000" b="1"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among</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developers</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website</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administrators</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about</a:t>
            </a:r>
            <a:r>
              <a:rPr lang="en-US" sz="2000" spc="29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hidden</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dangers</a:t>
            </a:r>
            <a:r>
              <a:rPr lang="en-US" sz="2000" spc="30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300" dirty="0">
                <a:latin typeface="Times New Roman" panose="02020603050405020304" pitchFamily="18" charset="0"/>
                <a:cs typeface="Times New Roman" panose="02020603050405020304" pitchFamily="18" charset="0"/>
              </a:rPr>
              <a:t> </a:t>
            </a:r>
            <a:r>
              <a:rPr lang="en-US" sz="2000" spc="-20" dirty="0">
                <a:latin typeface="Times New Roman" panose="02020603050405020304" pitchFamily="18" charset="0"/>
                <a:cs typeface="Times New Roman" panose="02020603050405020304" pitchFamily="18" charset="0"/>
              </a:rPr>
              <a:t>direct-</a:t>
            </a:r>
            <a:r>
              <a:rPr lang="en-US" sz="2000" spc="-25" dirty="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cloud</a:t>
            </a:r>
            <a:r>
              <a:rPr lang="en-US" sz="2000" spc="-2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uploads.</a:t>
            </a:r>
            <a:endParaRPr lang="en-US" altLang="en-US" sz="2000" dirty="0">
              <a:latin typeface="Times New Roman" panose="02020603050405020304" pitchFamily="18" charset="0"/>
              <a:cs typeface="Times New Roman" panose="02020603050405020304" pitchFamily="18" charset="0"/>
            </a:endParaRPr>
          </a:p>
          <a:p>
            <a:pPr marL="356870" lvl="1" indent="-344170">
              <a:lnSpc>
                <a:spcPts val="2330"/>
              </a:lnSpc>
              <a:spcBef>
                <a:spcPts val="1780"/>
              </a:spcBef>
              <a:buClr>
                <a:srgbClr val="404040"/>
              </a:buClr>
              <a:buFont typeface="Microsoft Sans Serif"/>
              <a:buChar char="•"/>
              <a:tabLst>
                <a:tab pos="356870" algn="l"/>
              </a:tabLst>
            </a:pPr>
            <a:r>
              <a:rPr lang="en-US" sz="2000" b="1" dirty="0">
                <a:latin typeface="Times New Roman" panose="02020603050405020304" pitchFamily="18" charset="0"/>
                <a:cs typeface="Times New Roman" panose="02020603050405020304" pitchFamily="18" charset="0"/>
              </a:rPr>
              <a:t>Propose</a:t>
            </a:r>
            <a:r>
              <a:rPr lang="en-US" sz="2000" b="1" spc="3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effective</a:t>
            </a:r>
            <a:r>
              <a:rPr lang="en-US" sz="2000" b="1" spc="7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security</a:t>
            </a:r>
            <a:r>
              <a:rPr lang="en-US" sz="2000" b="1" spc="4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measures</a:t>
            </a:r>
            <a:r>
              <a:rPr lang="en-US" sz="2000" b="1"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reduce</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risk</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attacks</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 improve</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safety</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6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cloud-based </a:t>
            </a:r>
            <a:r>
              <a:rPr lang="en-US" sz="2000" dirty="0">
                <a:latin typeface="Times New Roman" panose="02020603050405020304" pitchFamily="18" charset="0"/>
                <a:cs typeface="Times New Roman" panose="02020603050405020304" pitchFamily="18" charset="0"/>
              </a:rPr>
              <a:t>file</a:t>
            </a:r>
            <a:r>
              <a:rPr lang="en-US" sz="2000" spc="-2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handling.</a:t>
            </a:r>
            <a:endParaRPr lang="en-US" sz="20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7.Objectives</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12</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3280469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917575"/>
            <a:ext cx="11653837" cy="5292725"/>
          </a:xfrm>
          <a:prstGeom prst="rect">
            <a:avLst/>
          </a:prstGeom>
          <a:noFill/>
          <a:ln>
            <a:noFill/>
          </a:ln>
        </p:spPr>
        <p:txBody>
          <a:bodyPr spcFirstLastPara="1" wrap="square" lIns="91425" tIns="45700" rIns="91425" bIns="45700" anchor="t" anchorCtr="0">
            <a:noAutofit/>
          </a:bodyPr>
          <a:lstStyle/>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000" dirty="0"/>
              <a:t>Modern web applications increasingly rely on cloud storage services to handle direct user file uploads due to their scalability and convenience. However, this architecture introduces a complex security landscape involving temporary credentials, user-controlled upload flows, and asynchronous callbacks. Improper configuration, weak validation, and exposed cloud capabilities can lead to serious vulnerabilities such as unauthorized access, malware injection, privilege escalation, and data leakage. Despite existing security mechanisms, there remains a lack of automated, context-aware systems to infer and mitigate risks associated with exposed cloud services during file upload processes. This research aims to identify and address these gaps by analyzing the end-to-end upload flow, evaluating current protection strategies, and proposing robust, scalable solutions for secure credential management and file handling</a:t>
            </a:r>
            <a:endParaRPr lang="en-US" altLang="en-US" sz="2000" dirty="0">
              <a:latin typeface="Times New Roman" panose="02020603050405020304" pitchFamily="18" charset="0"/>
              <a:cs typeface="Times New Roman" panose="02020603050405020304" pitchFamily="18" charset="0"/>
            </a:endParaRPr>
          </a:p>
          <a:p>
            <a:pPr marL="0" marR="0" lvl="0" indent="0" algn="l" rtl="0">
              <a:lnSpc>
                <a:spcPct val="85000"/>
              </a:lnSpc>
              <a:spcBef>
                <a:spcPts val="0"/>
              </a:spcBef>
              <a:spcAft>
                <a:spcPts val="0"/>
              </a:spcAft>
              <a:buClr>
                <a:srgbClr val="404040"/>
              </a:buClr>
              <a:buSzPts val="2400"/>
              <a:buFont typeface="Times New Roman" panose="02020603050405020304"/>
              <a:buNone/>
            </a:pPr>
            <a:r>
              <a:rPr lang="en-US" sz="20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sz="2000" dirty="0"/>
          </a:p>
        </p:txBody>
      </p:sp>
      <p:sp>
        <p:nvSpPr>
          <p:cNvPr id="165" name="Google Shape;165;p20"/>
          <p:cNvSpPr txBox="1"/>
          <p:nvPr/>
        </p:nvSpPr>
        <p:spPr>
          <a:xfrm>
            <a:off x="247650" y="92075"/>
            <a:ext cx="11672887" cy="695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Arial Narrow" panose="020B0606020202030204"/>
                <a:ea typeface="Arial Narrow" panose="020B0606020202030204"/>
                <a:cs typeface="Arial Narrow" panose="020B0606020202030204"/>
                <a:sym typeface="Arial Narrow" panose="020B0606020202030204"/>
              </a:rPr>
              <a:t>8.Problem Statement</a:t>
            </a:r>
            <a:endParaRPr lang="en-US" sz="36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13</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1604334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p:nvPr/>
        </p:nvSpPr>
        <p:spPr>
          <a:xfrm>
            <a:off x="266700" y="1030287"/>
            <a:ext cx="11653837" cy="5292725"/>
          </a:xfrm>
          <a:prstGeom prst="rect">
            <a:avLst/>
          </a:prstGeom>
          <a:noFill/>
          <a:ln>
            <a:noFill/>
          </a:ln>
        </p:spPr>
        <p:txBody>
          <a:bodyPr spcFirstLastPara="1" wrap="square" lIns="91425" tIns="45700" rIns="91425" bIns="45700" anchor="t" anchorCtr="0">
            <a:noAutofit/>
          </a:bodyPr>
          <a:lstStyle/>
          <a:p>
            <a:pPr marL="476250" marR="0" lvl="0" indent="-342900" algn="l" rtl="0">
              <a:lnSpc>
                <a:spcPct val="85000"/>
              </a:lnSpc>
              <a:spcBef>
                <a:spcPts val="0"/>
              </a:spcBef>
              <a:spcAft>
                <a:spcPts val="0"/>
              </a:spcAft>
              <a:buClr>
                <a:schemeClr val="dk1"/>
              </a:buClr>
              <a:buSzPts val="2100"/>
              <a:buFont typeface="Arial" pitchFamily="34" charset="0"/>
              <a:buChar char="•"/>
            </a:pPr>
            <a:endParaRPr lang="en-US" altLang="en-US" sz="21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476250" marR="0" lvl="0" indent="-342900" algn="l" rtl="0">
              <a:lnSpc>
                <a:spcPct val="85000"/>
              </a:lnSpc>
              <a:spcBef>
                <a:spcPts val="0"/>
              </a:spcBef>
              <a:spcAft>
                <a:spcPts val="0"/>
              </a:spcAft>
              <a:buClr>
                <a:schemeClr val="dk1"/>
              </a:buClr>
              <a:buSzPts val="2100"/>
              <a:buFont typeface="Arial" pitchFamily="34" charset="0"/>
              <a:buChar char="•"/>
            </a:pPr>
            <a:r>
              <a:rPr lang="en-IN" altLang="en-US" sz="21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How the direct cloud upload is performed on the website is shown in diagram below</a:t>
            </a:r>
            <a:endParaRPr sz="21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457200" algn="l" rtl="0">
              <a:lnSpc>
                <a:spcPct val="85000"/>
              </a:lnSpc>
              <a:spcBef>
                <a:spcPts val="0"/>
              </a:spcBef>
              <a:spcAft>
                <a:spcPts val="0"/>
              </a:spcAft>
              <a:buClr>
                <a:schemeClr val="dk1"/>
              </a:buClr>
              <a:buSzPts val="2100"/>
              <a:buFont typeface="Arial" pitchFamily="34" charset="0"/>
              <a:buChar char="•"/>
            </a:pPr>
            <a:endParaRPr sz="21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Font typeface="Arial" pitchFamily="34" charset="0"/>
              <a:buChar char="•"/>
            </a:pPr>
            <a:endParaRPr sz="21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 name="Google Shape;205;p24"/>
          <p:cNvSpPr txBox="1"/>
          <p:nvPr/>
        </p:nvSpPr>
        <p:spPr>
          <a:xfrm>
            <a:off x="247650" y="92075"/>
            <a:ext cx="11672887" cy="7461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Narrow" panose="020B0606020202030204"/>
              <a:buNone/>
            </a:pPr>
            <a:r>
              <a:rPr lang="en-US" sz="3600" b="1" dirty="0">
                <a:solidFill>
                  <a:schemeClr val="dk1"/>
                </a:solidFill>
                <a:latin typeface="Times New Roman" pitchFamily="18" charset="0"/>
                <a:ea typeface="Arial Narrow" panose="020B0606020202030204"/>
                <a:cs typeface="Times New Roman" pitchFamily="18" charset="0"/>
                <a:sym typeface="Arial Narrow" panose="020B0606020202030204"/>
              </a:rPr>
              <a:t>9</a:t>
            </a:r>
            <a:r>
              <a:rPr lang="en-US" sz="3600" b="1" i="0" u="none" dirty="0">
                <a:solidFill>
                  <a:schemeClr val="dk1"/>
                </a:solidFill>
                <a:latin typeface="Times New Roman" pitchFamily="18" charset="0"/>
                <a:ea typeface="Arial Narrow" panose="020B0606020202030204"/>
                <a:cs typeface="Times New Roman" pitchFamily="18" charset="0"/>
                <a:sym typeface="Arial Narrow" panose="020B0606020202030204"/>
              </a:rPr>
              <a:t>. </a:t>
            </a:r>
            <a:r>
              <a:rPr lang="en-US" sz="3600" b="1" dirty="0">
                <a:solidFill>
                  <a:schemeClr val="dk1"/>
                </a:solidFill>
                <a:latin typeface="Times New Roman" pitchFamily="18" charset="0"/>
                <a:ea typeface="Arial Narrow" panose="020B0606020202030204"/>
                <a:cs typeface="Times New Roman" pitchFamily="18" charset="0"/>
                <a:sym typeface="Arial Narrow" panose="020B0606020202030204"/>
              </a:rPr>
              <a:t>System Architecture  </a:t>
            </a:r>
            <a:endParaRPr lang="en-US" sz="3600" b="1" i="0" u="none" dirty="0">
              <a:solidFill>
                <a:schemeClr val="dk1"/>
              </a:solidFill>
              <a:latin typeface="Times New Roman" pitchFamily="18" charset="0"/>
              <a:ea typeface="Arial Narrow" panose="020B0606020202030204"/>
              <a:cs typeface="Times New Roman" pitchFamily="18" charset="0"/>
              <a:sym typeface="Arial Narrow" panose="020B0606020202030204"/>
            </a:endParaRPr>
          </a:p>
        </p:txBody>
      </p:sp>
      <p:sp>
        <p:nvSpPr>
          <p:cNvPr id="206" name="Google Shape;206;p24"/>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207" name="Google Shape;207;p24"/>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14</a:t>
            </a:fld>
            <a:endParaRPr lang="en-US" sz="1400" b="0" i="0" u="none">
              <a:solidFill>
                <a:srgbClr val="FFFFFF"/>
              </a:solidFill>
              <a:latin typeface="Libre Franklin"/>
              <a:ea typeface="Libre Franklin"/>
              <a:cs typeface="Libre Franklin"/>
              <a:sym typeface="Libre Franklin"/>
            </a:endParaRPr>
          </a:p>
        </p:txBody>
      </p:sp>
      <p:sp>
        <p:nvSpPr>
          <p:cNvPr id="209" name="Google Shape;209;p24"/>
          <p:cNvSpPr txBox="1"/>
          <p:nvPr/>
        </p:nvSpPr>
        <p:spPr>
          <a:xfrm>
            <a:off x="1878150" y="5816600"/>
            <a:ext cx="7416800" cy="393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Times New Roman" panose="02020603050405020304"/>
              <a:buNone/>
            </a:pPr>
            <a:r>
              <a:rPr lang="en-US" sz="16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Figure 2.1</a:t>
            </a:r>
            <a:r>
              <a:rPr lang="en-IN" altLang="en-US" sz="16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IN" altLang="en-US"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Direct file Upload Method</a:t>
            </a:r>
            <a:endParaRPr lang="en-IN" altLang="en-US" sz="1600" b="1" i="0" u="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a:extLst>
              <a:ext uri="{FF2B5EF4-FFF2-40B4-BE49-F238E27FC236}">
                <a16:creationId xmlns:a16="http://schemas.microsoft.com/office/drawing/2014/main" id="{A152FB73-5453-C682-42A8-BAE147BDAF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1752599"/>
            <a:ext cx="10287000" cy="4075113"/>
          </a:xfrm>
          <a:prstGeom prst="rect">
            <a:avLst/>
          </a:prstGeom>
        </p:spPr>
      </p:pic>
    </p:spTree>
    <p:extLst>
      <p:ext uri="{BB962C8B-B14F-4D97-AF65-F5344CB8AC3E}">
        <p14:creationId xmlns:p14="http://schemas.microsoft.com/office/powerpoint/2010/main" val="1414482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70109" y="1104900"/>
            <a:ext cx="11653837" cy="5372100"/>
          </a:xfrm>
          <a:prstGeom prst="rect">
            <a:avLst/>
          </a:prstGeom>
          <a:noFill/>
          <a:ln>
            <a:noFill/>
          </a:ln>
        </p:spPr>
        <p:txBody>
          <a:bodyPr spcFirstLastPara="1" wrap="square" lIns="91425" tIns="45700" rIns="91425" bIns="45700" anchor="t" anchorCtr="0">
            <a:noAutofit/>
          </a:bodyPr>
          <a:lstStyle/>
          <a:p>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8223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r>
              <a:rPr lang="en-US" sz="3200" b="1" dirty="0">
                <a:solidFill>
                  <a:srgbClr val="404040"/>
                </a:solidFill>
                <a:latin typeface="Times New Roman"/>
                <a:cs typeface="Times New Roman"/>
              </a:rPr>
              <a:t>10.Algorithm</a:t>
            </a:r>
            <a:r>
              <a:rPr lang="en-US" sz="3200" b="1" spc="-40" dirty="0">
                <a:solidFill>
                  <a:srgbClr val="404040"/>
                </a:solidFill>
                <a:latin typeface="Times New Roman"/>
                <a:cs typeface="Times New Roman"/>
              </a:rPr>
              <a:t> </a:t>
            </a: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15</a:t>
            </a:fld>
            <a:endParaRPr lang="en-US" sz="1400" b="0" i="0" u="none">
              <a:solidFill>
                <a:srgbClr val="FFFFFF"/>
              </a:solidFill>
              <a:latin typeface="Libre Franklin"/>
              <a:ea typeface="Libre Franklin"/>
              <a:cs typeface="Libre Franklin"/>
              <a:sym typeface="Libre Franklin"/>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rcRect/>
          <a:stretch/>
        </p:blipFill>
        <p:spPr>
          <a:xfrm>
            <a:off x="804862" y="1371600"/>
            <a:ext cx="11006138" cy="4603750"/>
          </a:xfrm>
          <a:prstGeom prst="rect">
            <a:avLst/>
          </a:prstGeom>
        </p:spPr>
      </p:pic>
    </p:spTree>
    <p:extLst>
      <p:ext uri="{BB962C8B-B14F-4D97-AF65-F5344CB8AC3E}">
        <p14:creationId xmlns:p14="http://schemas.microsoft.com/office/powerpoint/2010/main" val="1845255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pPr marL="342900" indent="-342900">
              <a:buFont typeface="Arial" pitchFamily="34" charset="0"/>
              <a:buChar char="•"/>
            </a:pPr>
            <a:r>
              <a:rPr lang="en-US" sz="2000" b="1" dirty="0">
                <a:latin typeface="Times New Roman" pitchFamily="18" charset="0"/>
                <a:cs typeface="Times New Roman" pitchFamily="18" charset="0"/>
              </a:rPr>
              <a:t>Improved Developer Awareness</a:t>
            </a:r>
          </a:p>
          <a:p>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Helps developers understand the risks and best practices for secure file Uploads and Encourages thoughtful   </a:t>
            </a:r>
          </a:p>
          <a:p>
            <a:r>
              <a:rPr lang="en-US" sz="2000" dirty="0">
                <a:latin typeface="Times New Roman" pitchFamily="18" charset="0"/>
                <a:cs typeface="Times New Roman" pitchFamily="18" charset="0"/>
              </a:rPr>
              <a:t>      architecture rather than quick implementation</a:t>
            </a:r>
          </a:p>
          <a:p>
            <a:endParaRPr lang="en-US" sz="2000" dirty="0">
              <a:latin typeface="Times New Roman" pitchFamily="18" charset="0"/>
              <a:cs typeface="Times New Roman" pitchFamily="18" charset="0"/>
            </a:endParaRPr>
          </a:p>
          <a:p>
            <a:pPr marL="342900" indent="-342900">
              <a:buFont typeface="Arial" pitchFamily="34" charset="0"/>
              <a:buChar char="•"/>
            </a:pPr>
            <a:r>
              <a:rPr lang="en-US" sz="2000" b="1" dirty="0">
                <a:latin typeface="Times New Roman" pitchFamily="18" charset="0"/>
                <a:cs typeface="Times New Roman" pitchFamily="18" charset="0"/>
              </a:rPr>
              <a:t>Stronger Security Protocols</a:t>
            </a:r>
          </a:p>
          <a:p>
            <a:r>
              <a:rPr lang="en-US" sz="2000" dirty="0">
                <a:latin typeface="Times New Roman" pitchFamily="18" charset="0"/>
                <a:cs typeface="Times New Roman" pitchFamily="18" charset="0"/>
              </a:rPr>
              <a:t>     Promotes adoption of pre-signed URLs , MIME type validation and Malware scanning</a:t>
            </a:r>
          </a:p>
          <a:p>
            <a:r>
              <a:rPr lang="en-US" sz="2000" dirty="0">
                <a:latin typeface="Times New Roman" pitchFamily="18" charset="0"/>
                <a:cs typeface="Times New Roman" pitchFamily="18" charset="0"/>
              </a:rPr>
              <a:t> </a:t>
            </a:r>
          </a:p>
          <a:p>
            <a:pPr marL="342900" indent="-342900">
              <a:buFont typeface="Arial" pitchFamily="34" charset="0"/>
              <a:buChar char="•"/>
            </a:pPr>
            <a:r>
              <a:rPr lang="en-US" sz="2000" b="1" dirty="0">
                <a:latin typeface="Times New Roman" pitchFamily="18" charset="0"/>
                <a:cs typeface="Times New Roman" pitchFamily="18" charset="0"/>
              </a:rPr>
              <a:t>Cost Optimization</a:t>
            </a:r>
          </a:p>
          <a:p>
            <a:r>
              <a:rPr lang="en-US" sz="2000" dirty="0">
                <a:latin typeface="Times New Roman" pitchFamily="18" charset="0"/>
                <a:cs typeface="Times New Roman" pitchFamily="18" charset="0"/>
              </a:rPr>
              <a:t>     Uploading file handling to cloud reduces infrastructure costs</a:t>
            </a:r>
          </a:p>
          <a:p>
            <a:endParaRPr lang="en-US" sz="2000" dirty="0">
              <a:latin typeface="Times New Roman" pitchFamily="18" charset="0"/>
              <a:cs typeface="Times New Roman" pitchFamily="18" charset="0"/>
            </a:endParaRPr>
          </a:p>
          <a:p>
            <a:pPr marL="342900" indent="-342900">
              <a:buFont typeface="Arial" pitchFamily="34" charset="0"/>
              <a:buChar char="•"/>
            </a:pPr>
            <a:r>
              <a:rPr lang="en-US" sz="2000" b="1" dirty="0">
                <a:latin typeface="Times New Roman" pitchFamily="18" charset="0"/>
                <a:cs typeface="Times New Roman" pitchFamily="18" charset="0"/>
              </a:rPr>
              <a:t>Standardization of Upload Workflows </a:t>
            </a:r>
          </a:p>
          <a:p>
            <a:r>
              <a:rPr lang="en-IN" sz="2000" dirty="0">
                <a:latin typeface="Times New Roman" pitchFamily="18" charset="0"/>
                <a:cs typeface="Times New Roman" pitchFamily="18" charset="0"/>
              </a:rPr>
              <a:t>     Encourage consistent patterns across platforms (e.g., Mobile , web).</a:t>
            </a:r>
          </a:p>
          <a:p>
            <a:r>
              <a:rPr lang="en-IN" sz="2000" dirty="0">
                <a:latin typeface="Times New Roman" pitchFamily="18" charset="0"/>
                <a:cs typeface="Times New Roman" pitchFamily="18" charset="0"/>
              </a:rPr>
              <a:t>     Its easier to audit and maintain systems</a:t>
            </a:r>
          </a:p>
          <a:p>
            <a:endParaRPr lang="en-IN"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699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endParaRPr lang="en-IN" sz="3200" b="1" dirty="0">
              <a:solidFill>
                <a:srgbClr val="404040"/>
              </a:solidFill>
              <a:latin typeface="Times New Roman"/>
              <a:cs typeface="Times New Roman"/>
            </a:endParaRPr>
          </a:p>
          <a:p>
            <a:pPr algn="ctr" rtl="0">
              <a:buClr>
                <a:schemeClr val="dk1"/>
              </a:buClr>
              <a:buSzPts val="3600"/>
            </a:pPr>
            <a:r>
              <a:rPr lang="en-IN" sz="3600" b="1" dirty="0">
                <a:solidFill>
                  <a:srgbClr val="404040"/>
                </a:solidFill>
                <a:latin typeface="Times New Roman"/>
                <a:cs typeface="Times New Roman"/>
              </a:rPr>
              <a:t>11. Results</a:t>
            </a:r>
            <a:endParaRPr lang="en-IN" sz="3600" dirty="0">
              <a:latin typeface="Times New Roman"/>
              <a:cs typeface="Times New Roman"/>
            </a:endParaRPr>
          </a:p>
          <a:p>
            <a:pPr algn="ctr" rtl="0">
              <a:buClr>
                <a:schemeClr val="dk1"/>
              </a:buClr>
              <a:buSzPts val="3600"/>
            </a:pP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16</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2948304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pPr marL="457200" indent="-457200">
              <a:buAutoNum type="arabicPeriod"/>
            </a:pPr>
            <a:r>
              <a:rPr lang="en-IN" sz="2000" b="1" dirty="0">
                <a:latin typeface="Times New Roman" panose="02020603050405020304" pitchFamily="18" charset="0"/>
                <a:cs typeface="Times New Roman" panose="02020603050405020304" pitchFamily="18" charset="0"/>
              </a:rPr>
              <a:t>Social Media Platforms</a:t>
            </a:r>
            <a:r>
              <a:rPr lang="en-US" sz="2000" b="1" dirty="0">
                <a:latin typeface="Times New Roman" pitchFamily="18" charset="0"/>
                <a:cs typeface="Times New Roman" pitchFamily="18" charset="0"/>
              </a:rPr>
              <a:t>:</a:t>
            </a:r>
          </a:p>
          <a:p>
            <a:pPr marL="342900" indent="-342900">
              <a:buFont typeface="Arial" panose="020B0604020202020204" pitchFamily="34" charset="0"/>
              <a:buChar char="•"/>
            </a:pPr>
            <a:r>
              <a:rPr lang="en-US" sz="2000" dirty="0">
                <a:latin typeface="Times New Roman" pitchFamily="18" charset="0"/>
                <a:cs typeface="Times New Roman" pitchFamily="18" charset="0"/>
              </a:rPr>
              <a:t>  Users Upload images, videos and audio directly to cloud storage (e.g., Instagram , </a:t>
            </a:r>
            <a:r>
              <a:rPr lang="en-US" sz="2000" dirty="0" err="1">
                <a:latin typeface="Times New Roman" pitchFamily="18" charset="0"/>
                <a:cs typeface="Times New Roman" pitchFamily="18" charset="0"/>
              </a:rPr>
              <a:t>Linkedin</a:t>
            </a:r>
            <a:r>
              <a:rPr lang="en-US" sz="2000" dirty="0">
                <a:latin typeface="Times New Roman" pitchFamily="18" charset="0"/>
                <a:cs typeface="Times New Roman" pitchFamily="18" charset="0"/>
              </a:rPr>
              <a:t>).</a:t>
            </a:r>
          </a:p>
          <a:p>
            <a:pPr marL="342900" indent="-342900">
              <a:buFont typeface="Arial" panose="020B0604020202020204" pitchFamily="34" charset="0"/>
              <a:buChar char="•"/>
            </a:pPr>
            <a:r>
              <a:rPr lang="en-US" sz="2000" dirty="0">
                <a:latin typeface="Times New Roman" pitchFamily="18" charset="0"/>
                <a:cs typeface="Times New Roman" pitchFamily="18" charset="0"/>
              </a:rPr>
              <a:t>  Helps to Secure all the data which is uploaded by the user on platform.</a:t>
            </a:r>
          </a:p>
          <a:p>
            <a:endParaRPr lang="en-US" sz="2000" dirty="0">
              <a:latin typeface="Times New Roman" pitchFamily="18" charset="0"/>
              <a:cs typeface="Times New Roman" pitchFamily="18" charset="0"/>
            </a:endParaRPr>
          </a:p>
          <a:p>
            <a:pPr marL="457200" indent="-457200">
              <a:buAutoNum type="arabicPeriod" startAt="2"/>
            </a:pPr>
            <a:r>
              <a:rPr lang="en-US" sz="2000" b="1" dirty="0">
                <a:latin typeface="Times New Roman" pitchFamily="18" charset="0"/>
                <a:cs typeface="Times New Roman" pitchFamily="18" charset="0"/>
              </a:rPr>
              <a:t>Education:</a:t>
            </a:r>
          </a:p>
          <a:p>
            <a:pPr marL="457200" indent="-457200">
              <a:buFont typeface="Arial" panose="020B0604020202020204" pitchFamily="34" charset="0"/>
              <a:buChar char="•"/>
            </a:pPr>
            <a:r>
              <a:rPr lang="en-US" sz="2000" dirty="0">
                <a:latin typeface="Times New Roman" pitchFamily="18" charset="0"/>
                <a:cs typeface="Times New Roman" pitchFamily="18" charset="0"/>
              </a:rPr>
              <a:t>Students and instructors upload assignments, lecture on the platform or in classroom so cloud storage helps to maintain that record which is uploaded.</a:t>
            </a:r>
          </a:p>
          <a:p>
            <a:pPr marL="457200" indent="-457200">
              <a:buFont typeface="Arial" panose="020B0604020202020204" pitchFamily="34" charset="0"/>
              <a:buChar char="•"/>
            </a:pPr>
            <a:r>
              <a:rPr lang="en-US" sz="2000" dirty="0">
                <a:latin typeface="Times New Roman" pitchFamily="18" charset="0"/>
                <a:cs typeface="Times New Roman" pitchFamily="18" charset="0"/>
              </a:rPr>
              <a:t>Our security methods helps us to secure all the student information and all the data which is uploaded by students and instructor.</a:t>
            </a:r>
          </a:p>
          <a:p>
            <a:pPr marL="457200" indent="-457200">
              <a:buFont typeface="Arial" panose="020B0604020202020204" pitchFamily="34" charset="0"/>
              <a:buChar char="•"/>
            </a:pPr>
            <a:endParaRPr lang="en-US" sz="2000" dirty="0">
              <a:latin typeface="Times New Roman" pitchFamily="18" charset="0"/>
              <a:cs typeface="Times New Roman" pitchFamily="18" charset="0"/>
            </a:endParaRPr>
          </a:p>
          <a:p>
            <a:pPr marL="457200" indent="-457200">
              <a:buAutoNum type="arabicPeriod" startAt="3"/>
            </a:pPr>
            <a:r>
              <a:rPr lang="en-IN" sz="2000" b="1" dirty="0">
                <a:latin typeface="Times New Roman" panose="02020603050405020304" pitchFamily="18" charset="0"/>
                <a:cs typeface="Times New Roman" panose="02020603050405020304" pitchFamily="18" charset="0"/>
              </a:rPr>
              <a:t>Healthcare Systems</a:t>
            </a:r>
            <a:r>
              <a:rPr lang="en-US" sz="2000" b="1" dirty="0">
                <a:latin typeface="Times New Roman" pitchFamily="18" charset="0"/>
                <a:cs typeface="Times New Roman" pitchFamily="18" charset="0"/>
              </a:rPr>
              <a:t>:</a:t>
            </a:r>
          </a:p>
          <a:p>
            <a:pPr marL="457200" indent="-457200">
              <a:buFont typeface="Arial" panose="020B0604020202020204" pitchFamily="34" charset="0"/>
              <a:buChar char="•"/>
            </a:pPr>
            <a:r>
              <a:rPr lang="en-US" sz="2000" dirty="0">
                <a:latin typeface="Times New Roman" pitchFamily="18" charset="0"/>
                <a:cs typeface="Times New Roman" pitchFamily="18" charset="0"/>
              </a:rPr>
              <a:t>Patients Records and all the medicine stock management and patients details can be stored and secured in the cloud system.</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pPr marL="457200" indent="-457200">
              <a:buAutoNum type="arabicPeriod" startAt="4"/>
            </a:pPr>
            <a:r>
              <a:rPr lang="en-IN" sz="2000" b="1" dirty="0">
                <a:latin typeface="Times New Roman" panose="02020603050405020304" pitchFamily="18" charset="0"/>
                <a:cs typeface="Times New Roman" panose="02020603050405020304" pitchFamily="18" charset="0"/>
              </a:rPr>
              <a:t>Government and Legal Services</a:t>
            </a:r>
            <a:r>
              <a:rPr lang="en-US" sz="2000" b="1" dirty="0">
                <a:latin typeface="Times New Roman" pitchFamily="18" charset="0"/>
                <a:cs typeface="Times New Roman" pitchFamily="18" charset="0"/>
              </a:rPr>
              <a:t>:</a:t>
            </a:r>
          </a:p>
          <a:p>
            <a:pPr marL="457200" indent="-457200">
              <a:buFont typeface="Arial" panose="020B0604020202020204" pitchFamily="34" charset="0"/>
              <a:buChar char="•"/>
            </a:pPr>
            <a:r>
              <a:rPr lang="en-US" sz="2000" dirty="0">
                <a:latin typeface="Times New Roman" pitchFamily="18" charset="0"/>
                <a:cs typeface="Times New Roman" pitchFamily="18" charset="0"/>
              </a:rPr>
              <a:t>All the Records are stored in the government clouds and also this records can be verified whenever they are required.</a:t>
            </a:r>
          </a:p>
          <a:p>
            <a:pPr marL="457200" indent="-457200">
              <a:buFont typeface="Arial" panose="020B0604020202020204" pitchFamily="34" charset="0"/>
              <a:buChar char="•"/>
            </a:pPr>
            <a:endParaRPr lang="en-US"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699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endParaRPr lang="en-IN" sz="3200" b="1" dirty="0">
              <a:solidFill>
                <a:srgbClr val="404040"/>
              </a:solidFill>
              <a:latin typeface="Times New Roman"/>
              <a:cs typeface="Times New Roman"/>
            </a:endParaRPr>
          </a:p>
          <a:p>
            <a:pPr algn="ctr" rtl="0">
              <a:buClr>
                <a:schemeClr val="dk1"/>
              </a:buClr>
              <a:buSzPts val="3600"/>
            </a:pPr>
            <a:r>
              <a:rPr lang="en-IN" sz="3600" b="1" dirty="0">
                <a:solidFill>
                  <a:srgbClr val="404040"/>
                </a:solidFill>
                <a:latin typeface="Times New Roman"/>
                <a:cs typeface="Times New Roman"/>
              </a:rPr>
              <a:t>12.Applications</a:t>
            </a:r>
            <a:endParaRPr lang="en-IN" sz="3600" dirty="0">
              <a:latin typeface="Times New Roman"/>
              <a:cs typeface="Times New Roman"/>
            </a:endParaRPr>
          </a:p>
          <a:p>
            <a:pPr algn="ctr" rtl="0">
              <a:buClr>
                <a:schemeClr val="dk1"/>
              </a:buClr>
              <a:buSzPts val="3600"/>
            </a:pP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17</a:t>
            </a:fld>
            <a:endParaRPr lang="en-US" sz="1400" b="0" i="0" u="none">
              <a:solidFill>
                <a:srgbClr val="FFFFFF"/>
              </a:solidFill>
              <a:latin typeface="Libre Franklin"/>
              <a:ea typeface="Libre Franklin"/>
              <a:cs typeface="Libre Franklin"/>
              <a:sym typeface="Libre Franklin"/>
            </a:endParaRPr>
          </a:p>
        </p:txBody>
      </p:sp>
      <p:sp>
        <p:nvSpPr>
          <p:cNvPr id="3" name="Rectangle 2">
            <a:extLst>
              <a:ext uri="{FF2B5EF4-FFF2-40B4-BE49-F238E27FC236}">
                <a16:creationId xmlns:a16="http://schemas.microsoft.com/office/drawing/2014/main" id="{083CD3E4-289E-4FC5-1AE4-F22A55024F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a:ln>
                  <a:noFill/>
                </a:ln>
                <a:solidFill>
                  <a:schemeClr val="tx1"/>
                </a:solidFill>
                <a:effectLst/>
                <a:latin typeface="Arial" panose="020B0604020202020204" pitchFamily="34" charset="0"/>
              </a:rPr>
              <a:t>Users upload images, videos, and audio directly to cloud storage (e.g., Instagram, TikTok).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66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endParaRPr lang="en-IN" sz="2000" dirty="0">
              <a:latin typeface="Times New Roman" pitchFamily="18" charset="0"/>
              <a:cs typeface="Times New Roman" pitchFamily="18" charset="0"/>
            </a:endParaRPr>
          </a:p>
          <a:p>
            <a:pPr marL="342900" lvl="0" indent="-342900" algn="l">
              <a:lnSpc>
                <a:spcPct val="85000"/>
              </a:lnSpc>
              <a:buClr>
                <a:srgbClr val="404040"/>
              </a:buClr>
              <a:buSzPts val="21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Websites using cloud storage for direct file uploads offer speed and scalability, but they must be secured properly to prevent misuse, data leaks, and malware threats. Strong validation, access control, and monitoring are essential for safe implementation.</a:t>
            </a:r>
          </a:p>
          <a:p>
            <a:pPr marL="342900" lvl="0" indent="-342900" algn="l">
              <a:lnSpc>
                <a:spcPct val="85000"/>
              </a:lnSpc>
              <a:buClr>
                <a:srgbClr val="404040"/>
              </a:buClr>
              <a:buSzPts val="2100"/>
              <a:buFont typeface="Arial" panose="020B0604020202020204" pitchFamily="34" charset="0"/>
              <a:buChar char="•"/>
            </a:pPr>
            <a:endParaRPr lang="en-US" altLang="en-US" sz="2000" b="0" i="0" u="none" dirty="0">
              <a:solidFill>
                <a:srgbClr val="40404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lvl="0" indent="-342900" algn="l">
              <a:lnSpc>
                <a:spcPct val="85000"/>
              </a:lnSpc>
              <a:buClr>
                <a:srgbClr val="404040"/>
              </a:buClr>
              <a:buSzPts val="21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Websites that let users upload files directly to cloud storage are fast and scalable — but they also come with serious security risks. If not handled properly, attackers can upload harmful files, steal data, or misuse cloud resources. To stay safe, developers must add strong checks like file type validation, access control, malware scanning, and secure upload links. With the right precautions, this system can be both powerful and secure.</a:t>
            </a:r>
          </a:p>
          <a:p>
            <a:pPr marL="342900" lvl="0" indent="-342900" algn="l">
              <a:lnSpc>
                <a:spcPct val="85000"/>
              </a:lnSpc>
              <a:buClr>
                <a:srgbClr val="404040"/>
              </a:buClr>
              <a:buSzPts val="2100"/>
              <a:buFont typeface="Arial" panose="020B0604020202020204" pitchFamily="34" charset="0"/>
              <a:buChar char="•"/>
            </a:pPr>
            <a:endParaRPr lang="en-US" altLang="en-US" sz="2000" b="0" i="0" u="none" dirty="0">
              <a:solidFill>
                <a:srgbClr val="40404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lvl="0" indent="-342900">
              <a:lnSpc>
                <a:spcPct val="85000"/>
              </a:lnSpc>
              <a:buClr>
                <a:srgbClr val="404040"/>
              </a:buClr>
              <a:buSzPts val="2100"/>
              <a:buFont typeface="Arial" panose="020B0604020202020204" pitchFamily="34" charset="0"/>
              <a:buChar char="•"/>
            </a:pPr>
            <a:r>
              <a:rPr lang="en-US" altLang="en-US" sz="20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What major risk can be avoided:</a:t>
            </a:r>
          </a:p>
          <a:p>
            <a:pPr marL="457200" lvl="0" indent="-457200">
              <a:lnSpc>
                <a:spcPct val="85000"/>
              </a:lnSpc>
              <a:buClr>
                <a:srgbClr val="404040"/>
              </a:buClr>
              <a:buSzPts val="2100"/>
              <a:buFont typeface="+mj-lt"/>
              <a:buAutoNum type="arabicPeriod"/>
            </a:pPr>
            <a:r>
              <a:rPr lang="en-US" sz="2000" dirty="0">
                <a:latin typeface="Times New Roman" panose="02020603050405020304" pitchFamily="18" charset="0"/>
                <a:cs typeface="Times New Roman" panose="02020603050405020304" pitchFamily="18" charset="0"/>
              </a:rPr>
              <a:t>Attackers can upload malicious files like scripts, executables, or disguised payloads.</a:t>
            </a:r>
          </a:p>
          <a:p>
            <a:pPr marL="457200" lvl="0" indent="-457200">
              <a:lnSpc>
                <a:spcPct val="85000"/>
              </a:lnSpc>
              <a:buClr>
                <a:srgbClr val="404040"/>
              </a:buClr>
              <a:buSzPts val="2100"/>
              <a:buFont typeface="+mj-lt"/>
              <a:buAutoNum type="arabicPeriod"/>
            </a:pPr>
            <a:r>
              <a:rPr lang="en-US" altLang="en-US" sz="2000" i="0" u="none" dirty="0">
                <a:solidFill>
                  <a:srgbClr val="40404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The corrupted or virus-oriented files can be upload to our which can lead to corruption of our complete cloud storage or partial damage.</a:t>
            </a: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699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endParaRPr lang="en-IN" sz="3200" b="1" dirty="0">
              <a:solidFill>
                <a:srgbClr val="404040"/>
              </a:solidFill>
              <a:latin typeface="Times New Roman"/>
              <a:cs typeface="Times New Roman"/>
            </a:endParaRPr>
          </a:p>
          <a:p>
            <a:pPr algn="ctr" rtl="0">
              <a:buClr>
                <a:schemeClr val="dk1"/>
              </a:buClr>
              <a:buSzPts val="3600"/>
            </a:pPr>
            <a:r>
              <a:rPr lang="en-IN" sz="3600" b="1" dirty="0">
                <a:solidFill>
                  <a:srgbClr val="404040"/>
                </a:solidFill>
                <a:latin typeface="Times New Roman"/>
                <a:cs typeface="Times New Roman"/>
              </a:rPr>
              <a:t>13.Conclusion</a:t>
            </a:r>
            <a:endParaRPr lang="en-IN" sz="3600" dirty="0">
              <a:latin typeface="Times New Roman"/>
              <a:cs typeface="Times New Roman"/>
            </a:endParaRPr>
          </a:p>
          <a:p>
            <a:pPr algn="ctr" rtl="0">
              <a:buClr>
                <a:schemeClr val="dk1"/>
              </a:buClr>
              <a:buSzPts val="3600"/>
            </a:pP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18</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3995082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endParaRPr lang="en-IN" sz="2000" dirty="0">
              <a:latin typeface="Times New Roman" pitchFamily="18" charset="0"/>
              <a:cs typeface="Times New Roman" pitchFamily="18" charset="0"/>
            </a:endParaRPr>
          </a:p>
          <a:p>
            <a:pPr marL="342900" indent="-342900">
              <a:buFont typeface="Arial" pitchFamily="34" charset="0"/>
              <a:buChar char="•"/>
            </a:pPr>
            <a:r>
              <a:rPr lang="en-IN" sz="2000" b="1" dirty="0">
                <a:latin typeface="Times New Roman" panose="02020603050405020304" pitchFamily="18" charset="0"/>
                <a:cs typeface="Times New Roman" panose="02020603050405020304" pitchFamily="18" charset="0"/>
              </a:rPr>
              <a:t>AI-Powered File Validation:</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Use of machine learning to detect malicious or suspicious uploads in real time.</a:t>
            </a:r>
          </a:p>
          <a:p>
            <a:endParaRPr lang="en-US" sz="2000" dirty="0">
              <a:latin typeface="Times New Roman" pitchFamily="18" charset="0"/>
              <a:cs typeface="Times New Roman" pitchFamily="18" charset="0"/>
            </a:endParaRPr>
          </a:p>
          <a:p>
            <a:pPr marL="342900" indent="-342900">
              <a:buFont typeface="Arial" pitchFamily="34" charset="0"/>
              <a:buChar char="•"/>
            </a:pPr>
            <a:r>
              <a:rPr lang="en-IN" sz="2000" b="1" dirty="0">
                <a:latin typeface="Times New Roman" panose="02020603050405020304" pitchFamily="18" charset="0"/>
                <a:cs typeface="Times New Roman" panose="02020603050405020304" pitchFamily="18" charset="0"/>
              </a:rPr>
              <a:t>Zero-Trust Upload Architectures:</a:t>
            </a:r>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Every upload treated as untrusted until verified</a:t>
            </a:r>
          </a:p>
          <a:p>
            <a:endParaRPr lang="en-US" sz="2000" dirty="0">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IN" sz="2000" b="1" dirty="0">
                <a:latin typeface="Times New Roman" panose="02020603050405020304" pitchFamily="18" charset="0"/>
                <a:cs typeface="Times New Roman" panose="02020603050405020304" pitchFamily="18" charset="0"/>
              </a:rPr>
              <a:t>Blockchain for File Integrity:</a:t>
            </a:r>
            <a:r>
              <a:rPr lang="en-US" sz="2000" b="1" dirty="0">
                <a:latin typeface="Times New Roman" panose="02020603050405020304" pitchFamily="18" charset="0"/>
                <a:cs typeface="Times New Roman" pitchFamily="18" charset="0"/>
              </a:rPr>
              <a:t>   </a:t>
            </a:r>
          </a:p>
          <a:p>
            <a:r>
              <a:rPr lang="en-US" sz="2000" b="1" dirty="0">
                <a:latin typeface="Times New Roman" panose="02020603050405020304" pitchFamily="18" charset="0"/>
                <a:cs typeface="Times New Roman" pitchFamily="18" charset="0"/>
              </a:rPr>
              <a:t>      </a:t>
            </a:r>
            <a:r>
              <a:rPr lang="en-US" sz="2000" dirty="0">
                <a:latin typeface="Times New Roman" panose="02020603050405020304" pitchFamily="18" charset="0"/>
                <a:cs typeface="Times New Roman" pitchFamily="18" charset="0"/>
              </a:rPr>
              <a:t>Hashing and timestamping uploads to ensure tamper-proof records.</a:t>
            </a:r>
          </a:p>
          <a:p>
            <a:endParaRPr lang="en-US" altLang="en-US" sz="2000" b="0" i="0" u="none" dirty="0">
              <a:solidFill>
                <a:srgbClr val="40404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indent="-342900">
              <a:buFont typeface="Arial" pitchFamily="34" charset="0"/>
              <a:buChar char="•"/>
            </a:pPr>
            <a:r>
              <a:rPr lang="en-US" sz="2000" b="1" dirty="0">
                <a:latin typeface="Times New Roman" panose="02020603050405020304" pitchFamily="18" charset="0"/>
                <a:cs typeface="Times New Roman" panose="02020603050405020304" pitchFamily="18" charset="0"/>
              </a:rPr>
              <a:t>Smart Quotas and Billing Alerts:   </a:t>
            </a:r>
          </a:p>
          <a:p>
            <a:r>
              <a:rPr lang="en-US" sz="2000" dirty="0">
                <a:latin typeface="Times New Roman" pitchFamily="18" charset="0"/>
                <a:cs typeface="Times New Roman" pitchFamily="18" charset="0"/>
              </a:rPr>
              <a:t>     Predictive analytics to manage storage costs and prevent abuse. </a:t>
            </a:r>
          </a:p>
          <a:p>
            <a:pPr marL="342900" indent="-342900">
              <a:buFont typeface="Arial"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699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endParaRPr lang="en-IN" sz="3200" b="1" dirty="0">
              <a:solidFill>
                <a:srgbClr val="404040"/>
              </a:solidFill>
              <a:latin typeface="Times New Roman"/>
              <a:cs typeface="Times New Roman"/>
            </a:endParaRPr>
          </a:p>
          <a:p>
            <a:pPr algn="ctr" rtl="0">
              <a:buClr>
                <a:schemeClr val="dk1"/>
              </a:buClr>
              <a:buSzPts val="3600"/>
            </a:pPr>
            <a:r>
              <a:rPr lang="en-IN" sz="3600" b="1" dirty="0">
                <a:solidFill>
                  <a:srgbClr val="404040"/>
                </a:solidFill>
                <a:latin typeface="Times New Roman"/>
                <a:cs typeface="Times New Roman"/>
              </a:rPr>
              <a:t>14.Future Scope</a:t>
            </a:r>
            <a:endParaRPr lang="en-IN" sz="3600" dirty="0">
              <a:latin typeface="Times New Roman"/>
              <a:cs typeface="Times New Roman"/>
            </a:endParaRPr>
          </a:p>
          <a:p>
            <a:pPr algn="ctr" rtl="0">
              <a:buClr>
                <a:schemeClr val="dk1"/>
              </a:buClr>
              <a:buSzPts val="3600"/>
            </a:pP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19</a:t>
            </a:fld>
            <a:endParaRPr lang="en-US" sz="1400" b="0" i="0" u="none">
              <a:solidFill>
                <a:srgbClr val="FFFFFF"/>
              </a:solidFill>
              <a:latin typeface="Libre Franklin"/>
              <a:ea typeface="Libre Franklin"/>
              <a:cs typeface="Libre Franklin"/>
              <a:sym typeface="Libre Franklin"/>
            </a:endParaRPr>
          </a:p>
        </p:txBody>
      </p:sp>
      <p:sp>
        <p:nvSpPr>
          <p:cNvPr id="3" name="Rectangle 2">
            <a:extLst>
              <a:ext uri="{FF2B5EF4-FFF2-40B4-BE49-F238E27FC236}">
                <a16:creationId xmlns:a16="http://schemas.microsoft.com/office/drawing/2014/main" id="{FF05AA5F-FFA3-5068-CD0F-5698FE232AC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a:ln>
                  <a:noFill/>
                </a:ln>
                <a:solidFill>
                  <a:schemeClr val="tx1"/>
                </a:solidFill>
                <a:effectLst/>
                <a:latin typeface="Arial" panose="020B0604020202020204" pitchFamily="34" charset="0"/>
              </a:rPr>
              <a:t>Hashing and timestamping uploads to ensure tamper-proof records.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5990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endParaRPr lang="en-IN" sz="2000" dirty="0">
              <a:latin typeface="Times New Roman" pitchFamily="18" charset="0"/>
              <a:cs typeface="Times New Roman" pitchFamily="18" charset="0"/>
            </a:endParaRPr>
          </a:p>
          <a:p>
            <a:pPr algn="just"/>
            <a:r>
              <a:rPr lang="en-US" dirty="0"/>
              <a:t>[1] P. Yang, N. Xiong, and J. Ren, “Data security and privacy protection for cloud storage: A survey,” IEEE Access, vol. 8, pp. 131723–131740, </a:t>
            </a:r>
            <a:r>
              <a:rPr lang="en-IN" dirty="0"/>
              <a:t>2020.</a:t>
            </a:r>
          </a:p>
          <a:p>
            <a:pPr algn="just"/>
            <a:endParaRPr lang="en-IN" dirty="0"/>
          </a:p>
          <a:p>
            <a:pPr algn="just"/>
            <a:r>
              <a:rPr lang="en-US" dirty="0"/>
              <a:t>[2] (2021). Gmail Statistics, Users, Growth and Facts for 2021.[Online].</a:t>
            </a:r>
            <a:r>
              <a:rPr lang="fr-FR" dirty="0" err="1"/>
              <a:t>Available</a:t>
            </a:r>
            <a:r>
              <a:rPr lang="fr-FR" dirty="0"/>
              <a:t>: </a:t>
            </a:r>
            <a:r>
              <a:rPr lang="fr-FR" dirty="0">
                <a:hlinkClick r:id="rId3"/>
              </a:rPr>
              <a:t>https://saasscout.com/statistics/gmail-statistics/</a:t>
            </a:r>
            <a:endParaRPr lang="fr-FR" dirty="0"/>
          </a:p>
          <a:p>
            <a:pPr algn="just"/>
            <a:endParaRPr lang="fr-FR" dirty="0"/>
          </a:p>
          <a:p>
            <a:pPr algn="just"/>
            <a:r>
              <a:rPr lang="en-US" dirty="0"/>
              <a:t>[3] (2019). Reddit’s 2019 Year in Review. [Online]. Available: </a:t>
            </a:r>
            <a:r>
              <a:rPr lang="en-US" dirty="0">
                <a:hlinkClick r:id="rId4"/>
              </a:rPr>
              <a:t>https://</a:t>
            </a:r>
            <a:r>
              <a:rPr lang="en-IN" dirty="0">
                <a:hlinkClick r:id="rId4"/>
              </a:rPr>
              <a:t>www.redditinc.com/blog/reddits-2019-year-in-review/</a:t>
            </a:r>
            <a:endParaRPr lang="en-IN" dirty="0"/>
          </a:p>
          <a:p>
            <a:pPr algn="just"/>
            <a:endParaRPr lang="en-IN" dirty="0"/>
          </a:p>
          <a:p>
            <a:pPr algn="just"/>
            <a:r>
              <a:rPr lang="en-US" dirty="0"/>
              <a:t>[4] R. Nachiappan, B. Javadi, R. N. Calheiros, and K. M. </a:t>
            </a:r>
            <a:r>
              <a:rPr lang="en-US" dirty="0" err="1"/>
              <a:t>Matawie</a:t>
            </a:r>
            <a:r>
              <a:rPr lang="en-US" dirty="0"/>
              <a:t>, “Cloud storage reliability for big data applications: A state of the art survey,” J. </a:t>
            </a:r>
            <a:r>
              <a:rPr lang="en-US" dirty="0" err="1"/>
              <a:t>Netw</a:t>
            </a:r>
            <a:r>
              <a:rPr lang="en-US" dirty="0"/>
              <a:t>. Comput. Appl., vol. 97, pp. 35–47,</a:t>
            </a:r>
            <a:r>
              <a:rPr lang="en-IN" dirty="0"/>
              <a:t>Nov. 2017.</a:t>
            </a:r>
          </a:p>
          <a:p>
            <a:pPr algn="just"/>
            <a:endParaRPr lang="en-IN" dirty="0"/>
          </a:p>
          <a:p>
            <a:pPr algn="just"/>
            <a:r>
              <a:rPr lang="en-US" dirty="0"/>
              <a:t>[5] T. Lee, S. Wi, S. Lee, and S. Son, “FUSE: Finding file upload bugs via penetration testing,” in Proc. </a:t>
            </a:r>
            <a:r>
              <a:rPr lang="en-US" dirty="0" err="1"/>
              <a:t>Netw</a:t>
            </a:r>
            <a:r>
              <a:rPr lang="en-US" dirty="0"/>
              <a:t>. </a:t>
            </a:r>
            <a:r>
              <a:rPr lang="en-US" dirty="0" err="1"/>
              <a:t>Distrib</a:t>
            </a:r>
            <a:r>
              <a:rPr lang="en-US" dirty="0"/>
              <a:t>. Syst. </a:t>
            </a:r>
            <a:r>
              <a:rPr lang="en-US" dirty="0" err="1"/>
              <a:t>Secur</a:t>
            </a:r>
            <a:r>
              <a:rPr lang="en-US" dirty="0"/>
              <a:t>. Symp., 2020, </a:t>
            </a:r>
            <a:r>
              <a:rPr lang="en-IN" dirty="0"/>
              <a:t>pp. 1–11.</a:t>
            </a:r>
          </a:p>
          <a:p>
            <a:pPr algn="just"/>
            <a:endParaRPr lang="en-IN" dirty="0"/>
          </a:p>
          <a:p>
            <a:r>
              <a:rPr lang="sv-SE" sz="1800" dirty="0"/>
              <a:t>[6] Y. Chen, Y. Li, Z. Pan, Y. Lu, J. Chen, and S. Ji, “URadar: Discovering </a:t>
            </a:r>
            <a:r>
              <a:rPr lang="en-US" sz="1800" dirty="0"/>
              <a:t>unrestricted file upload vulnerabilities via adaptive dynamic testing,” IEEE Trans. Inf. Forensics Security, vol. 19, pp. 1251–1266, </a:t>
            </a:r>
            <a:r>
              <a:rPr lang="en-IN" sz="1800" dirty="0"/>
              <a:t>2024.</a:t>
            </a:r>
            <a:endParaRPr lang="en-IN" dirty="0"/>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699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endParaRPr lang="en-IN" sz="3200" b="1" dirty="0">
              <a:solidFill>
                <a:srgbClr val="404040"/>
              </a:solidFill>
              <a:latin typeface="Times New Roman"/>
              <a:cs typeface="Times New Roman"/>
            </a:endParaRPr>
          </a:p>
          <a:p>
            <a:pPr algn="ctr" rtl="0">
              <a:buClr>
                <a:schemeClr val="dk1"/>
              </a:buClr>
              <a:buSzPts val="3600"/>
            </a:pPr>
            <a:r>
              <a:rPr lang="en-IN" sz="3600" b="1" dirty="0">
                <a:solidFill>
                  <a:srgbClr val="404040"/>
                </a:solidFill>
                <a:latin typeface="Times New Roman"/>
                <a:cs typeface="Times New Roman"/>
              </a:rPr>
              <a:t>15.References</a:t>
            </a:r>
            <a:endParaRPr lang="en-IN" sz="3600" dirty="0">
              <a:latin typeface="Times New Roman"/>
              <a:cs typeface="Times New Roman"/>
            </a:endParaRPr>
          </a:p>
          <a:p>
            <a:pPr algn="ctr" rtl="0">
              <a:buClr>
                <a:schemeClr val="dk1"/>
              </a:buClr>
              <a:buSzPts val="3600"/>
            </a:pP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20</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1055168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266700" y="1066800"/>
            <a:ext cx="11653837" cy="5372100"/>
          </a:xfrm>
          <a:prstGeom prst="rect">
            <a:avLst/>
          </a:prstGeom>
          <a:noFill/>
          <a:ln>
            <a:noFill/>
          </a:ln>
        </p:spPr>
        <p:txBody>
          <a:bodyPr spcFirstLastPara="1" wrap="square" lIns="91425" tIns="45700" rIns="91425" bIns="45700" anchor="t" anchorCtr="0">
            <a:noAutofit/>
          </a:bodyPr>
          <a:lstStyle/>
          <a:p>
            <a:endParaRPr lang="en-IN" sz="2000" dirty="0">
              <a:latin typeface="Times New Roman" pitchFamily="18" charset="0"/>
              <a:cs typeface="Times New Roman" pitchFamily="18" charset="0"/>
            </a:endParaRPr>
          </a:p>
          <a:p>
            <a:r>
              <a:rPr lang="en-US" sz="1800" dirty="0"/>
              <a:t>[7] C. Zuo, Z. Lin, and Y. Zhang, “Why does your data leak? Uncovering the data leakage in cloud from mobile apps,” in Proc. IEEE Symp. </a:t>
            </a:r>
            <a:r>
              <a:rPr lang="en-US" sz="1800" dirty="0" err="1"/>
              <a:t>Secur</a:t>
            </a:r>
            <a:r>
              <a:rPr lang="en-US" sz="1800" dirty="0"/>
              <a:t>. Privacy (SP), May 2019, pp. 1296–1310.</a:t>
            </a:r>
          </a:p>
          <a:p>
            <a:endParaRPr lang="en-US" sz="1800" dirty="0"/>
          </a:p>
          <a:p>
            <a:r>
              <a:rPr lang="en-US" sz="1800" dirty="0"/>
              <a:t>[8] Y. Zhou, L. Wu, Z. Wang, and X. Jiang, “Harvesting developer credentials in Android apps,” in Proc. 8th ACM Conf. </a:t>
            </a:r>
            <a:r>
              <a:rPr lang="en-US" sz="1800" dirty="0" err="1"/>
              <a:t>Secur</a:t>
            </a:r>
            <a:r>
              <a:rPr lang="en-US" sz="1800" dirty="0"/>
              <a:t>. Privacy Wireless </a:t>
            </a:r>
            <a:r>
              <a:rPr lang="it-IT" sz="1800" dirty="0"/>
              <a:t>Mobile Netw., Jun. 2015, pp. 1–12.</a:t>
            </a:r>
          </a:p>
          <a:p>
            <a:endParaRPr lang="it-IT" sz="1800" dirty="0"/>
          </a:p>
          <a:p>
            <a:r>
              <a:rPr lang="en-US" sz="1800" dirty="0"/>
              <a:t>[9] M. Meli, M. R. McNiece, and B. Reaves, “How bad can it git? Characterizing secret leakage in public GitHub repositories,” in Proc.</a:t>
            </a:r>
            <a:r>
              <a:rPr lang="en-IN" sz="1800" dirty="0" err="1"/>
              <a:t>Netw</a:t>
            </a:r>
            <a:r>
              <a:rPr lang="en-IN" sz="1800" dirty="0"/>
              <a:t>. </a:t>
            </a:r>
            <a:r>
              <a:rPr lang="en-IN" sz="1800" dirty="0" err="1"/>
              <a:t>Distrib</a:t>
            </a:r>
            <a:r>
              <a:rPr lang="en-IN" sz="1800" dirty="0"/>
              <a:t>. Syst. </a:t>
            </a:r>
            <a:r>
              <a:rPr lang="en-IN" sz="1800" dirty="0" err="1"/>
              <a:t>Secur</a:t>
            </a:r>
            <a:r>
              <a:rPr lang="en-IN" sz="1800" dirty="0"/>
              <a:t>. Symp., 2019, pp. 1–18.</a:t>
            </a:r>
          </a:p>
          <a:p>
            <a:endParaRPr lang="en-IN" sz="1800" dirty="0"/>
          </a:p>
          <a:p>
            <a:r>
              <a:rPr lang="en-US" sz="1800" dirty="0"/>
              <a:t>[10] H. Wen, J. Li, Y. Zhang, and D. Gu, “An empirical study of SDK credential misuse in iOS apps,” in Proc. 25th Asia–Pacific </a:t>
            </a:r>
            <a:r>
              <a:rPr lang="en-US" sz="1800" dirty="0" err="1"/>
              <a:t>Softw</a:t>
            </a:r>
            <a:r>
              <a:rPr lang="en-US" sz="1800" dirty="0"/>
              <a:t>. Eng. </a:t>
            </a:r>
            <a:r>
              <a:rPr lang="fr-FR" sz="1800" dirty="0"/>
              <a:t>Conf. (APSEC), </a:t>
            </a:r>
            <a:r>
              <a:rPr lang="fr-FR" sz="1800" dirty="0" err="1"/>
              <a:t>Dec</a:t>
            </a:r>
            <a:r>
              <a:rPr lang="fr-FR" sz="1800" dirty="0"/>
              <a:t>. 2018, pp. 258–267.</a:t>
            </a:r>
            <a:endParaRPr lang="en-US" altLang="en-US" sz="20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lang="en-IN" altLang="en-US" sz="2000" b="0"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marR="0" lvl="0" indent="-285750" algn="l" rtl="0">
              <a:lnSpc>
                <a:spcPct val="85000"/>
              </a:lnSpc>
              <a:spcBef>
                <a:spcPts val="0"/>
              </a:spcBef>
              <a:spcAft>
                <a:spcPts val="0"/>
              </a:spcAft>
              <a:buClr>
                <a:srgbClr val="404040"/>
              </a:buClr>
              <a:buSzPts val="2100"/>
              <a:buFont typeface="Arial" panose="020B0604020202020204" pitchFamily="34" charset="0"/>
              <a:buChar char="•"/>
            </a:pPr>
            <a:endParaRPr sz="1400" dirty="0"/>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100"/>
              <a:buFont typeface="Arial" panose="020B0604020202020204"/>
              <a:buNone/>
            </a:pPr>
            <a:endParaRPr sz="21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endParaRPr>
          </a:p>
          <a:p>
            <a:pPr marR="0" lvl="0" algn="l" rtl="0">
              <a:lnSpc>
                <a:spcPct val="85000"/>
              </a:lnSpc>
              <a:spcBef>
                <a:spcPts val="0"/>
              </a:spcBef>
              <a:spcAft>
                <a:spcPts val="0"/>
              </a:spcAft>
              <a:buClr>
                <a:srgbClr val="404040"/>
              </a:buClr>
              <a:buSzPts val="2100"/>
            </a:pPr>
            <a:endParaRPr dirty="0"/>
          </a:p>
          <a:p>
            <a:pPr marL="0" marR="0" lvl="0" indent="0" algn="l" rtl="0">
              <a:lnSpc>
                <a:spcPct val="85000"/>
              </a:lnSpc>
              <a:spcBef>
                <a:spcPts val="0"/>
              </a:spcBef>
              <a:spcAft>
                <a:spcPts val="0"/>
              </a:spcAft>
              <a:buClr>
                <a:srgbClr val="404040"/>
              </a:buClr>
              <a:buSzPts val="2400"/>
              <a:buFont typeface="Times New Roman" panose="02020603050405020304"/>
              <a:buNone/>
            </a:pPr>
            <a:r>
              <a:rPr lang="en-US" sz="2400" b="1" i="0" u="none" dirty="0">
                <a:solidFill>
                  <a:srgbClr val="404040"/>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165" name="Google Shape;165;p20"/>
          <p:cNvSpPr txBox="1"/>
          <p:nvPr/>
        </p:nvSpPr>
        <p:spPr>
          <a:xfrm>
            <a:off x="247650" y="92075"/>
            <a:ext cx="11672887" cy="669925"/>
          </a:xfrm>
          <a:prstGeom prst="rect">
            <a:avLst/>
          </a:prstGeom>
          <a:solidFill>
            <a:srgbClr val="F4B39B"/>
          </a:solidFill>
          <a:ln w="12700" cap="flat" cmpd="sng">
            <a:solidFill>
              <a:srgbClr val="9B320E"/>
            </a:solidFill>
            <a:prstDash val="solid"/>
            <a:miter lim="800000"/>
            <a:headEnd type="none" w="sm" len="sm"/>
            <a:tailEnd type="none" w="sm" len="sm"/>
          </a:ln>
        </p:spPr>
        <p:txBody>
          <a:bodyPr spcFirstLastPara="1" wrap="square" lIns="91425" tIns="45700" rIns="91425" bIns="45700" anchor="ctr" anchorCtr="0">
            <a:noAutofit/>
          </a:bodyPr>
          <a:lstStyle/>
          <a:p>
            <a:pPr algn="ctr" rtl="0">
              <a:buClr>
                <a:schemeClr val="dk1"/>
              </a:buClr>
              <a:buSzPts val="3600"/>
            </a:pPr>
            <a:endParaRPr lang="en-US" sz="2800" b="1" dirty="0">
              <a:solidFill>
                <a:srgbClr val="404040"/>
              </a:solidFill>
              <a:latin typeface="Times New Roman"/>
              <a:cs typeface="Times New Roman"/>
            </a:endParaRPr>
          </a:p>
          <a:p>
            <a:pPr algn="ctr" rtl="0">
              <a:buClr>
                <a:schemeClr val="dk1"/>
              </a:buClr>
              <a:buSzPts val="3600"/>
            </a:pPr>
            <a:endParaRPr lang="en-IN" sz="3200" b="1" dirty="0">
              <a:solidFill>
                <a:srgbClr val="404040"/>
              </a:solidFill>
              <a:latin typeface="Times New Roman"/>
              <a:cs typeface="Times New Roman"/>
            </a:endParaRPr>
          </a:p>
          <a:p>
            <a:pPr algn="ctr" rtl="0">
              <a:buClr>
                <a:schemeClr val="dk1"/>
              </a:buClr>
              <a:buSzPts val="3600"/>
            </a:pPr>
            <a:r>
              <a:rPr lang="en-IN" sz="3600" b="1" dirty="0">
                <a:solidFill>
                  <a:srgbClr val="404040"/>
                </a:solidFill>
                <a:latin typeface="Times New Roman"/>
                <a:cs typeface="Times New Roman"/>
              </a:rPr>
              <a:t>15.References</a:t>
            </a:r>
            <a:endParaRPr lang="en-IN" sz="3600" dirty="0">
              <a:latin typeface="Times New Roman"/>
              <a:cs typeface="Times New Roman"/>
            </a:endParaRPr>
          </a:p>
          <a:p>
            <a:pPr algn="ctr" rtl="0">
              <a:buClr>
                <a:schemeClr val="dk1"/>
              </a:buClr>
              <a:buSzPts val="3600"/>
            </a:pPr>
            <a:endParaRPr lang="en-US" sz="3200" dirty="0">
              <a:latin typeface="Times New Roman"/>
              <a:cs typeface="Times New Roman"/>
            </a:endParaRPr>
          </a:p>
          <a:p>
            <a:pPr marL="0" marR="0" lvl="0" indent="0" algn="ctr" rtl="0">
              <a:lnSpc>
                <a:spcPct val="100000"/>
              </a:lnSpc>
              <a:spcBef>
                <a:spcPts val="0"/>
              </a:spcBef>
              <a:spcAft>
                <a:spcPts val="0"/>
              </a:spcAft>
              <a:buClr>
                <a:schemeClr val="dk1"/>
              </a:buClr>
              <a:buSzPts val="3600"/>
              <a:buFont typeface="Arial Narrow" panose="020B0606020202030204"/>
              <a:buNone/>
            </a:pPr>
            <a:endParaRPr lang="en-US" sz="3200" b="1" i="0" u="none" dirty="0">
              <a:solidFill>
                <a:schemeClr val="dk1"/>
              </a:solidFill>
              <a:latin typeface="Arial Narrow" panose="020B0606020202030204"/>
              <a:ea typeface="Arial Narrow" panose="020B0606020202030204"/>
              <a:cs typeface="Arial Narrow" panose="020B0606020202030204"/>
              <a:sym typeface="Arial Narrow" panose="020B0606020202030204"/>
            </a:endParaRPr>
          </a:p>
        </p:txBody>
      </p:sp>
      <p:sp>
        <p:nvSpPr>
          <p:cNvPr id="166" name="Google Shape;166;p20"/>
          <p:cNvSpPr txBox="1"/>
          <p:nvPr/>
        </p:nvSpPr>
        <p:spPr>
          <a:xfrm>
            <a:off x="2322512" y="6323012"/>
            <a:ext cx="7416800" cy="50165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7030A0"/>
              </a:buClr>
              <a:buSzPts val="1200"/>
              <a:buFont typeface="Arial Narrow" panose="020B0606020202030204"/>
              <a:buNone/>
            </a:pPr>
            <a:r>
              <a:rPr lang="en-US" sz="1200" b="0" i="0" u="none">
                <a:solidFill>
                  <a:srgbClr val="7030A0"/>
                </a:solidFill>
                <a:latin typeface="Arial Narrow" panose="020B0606020202030204"/>
                <a:ea typeface="Arial Narrow" panose="020B0606020202030204"/>
                <a:cs typeface="Arial Narrow" panose="020B0606020202030204"/>
                <a:sym typeface="Arial Narrow" panose="020B0606020202030204"/>
              </a:rPr>
              <a:t>Department of Computer Engineering | PVG’s COE&amp;SSDIOM Nashik</a:t>
            </a:r>
          </a:p>
        </p:txBody>
      </p:sp>
      <p:sp>
        <p:nvSpPr>
          <p:cNvPr id="167" name="Google Shape;167;p20"/>
          <p:cNvSpPr/>
          <p:nvPr/>
        </p:nvSpPr>
        <p:spPr>
          <a:xfrm>
            <a:off x="195262" y="6210300"/>
            <a:ext cx="6096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a:solidFill>
                  <a:srgbClr val="FFFFFF"/>
                </a:solidFill>
                <a:latin typeface="Libre Franklin"/>
                <a:ea typeface="Libre Franklin"/>
                <a:cs typeface="Libre Franklin"/>
                <a:sym typeface="Libre Franklin"/>
              </a:rPr>
              <a:t>21</a:t>
            </a:fld>
            <a:endParaRPr lang="en-US" sz="1400" b="0" i="0" u="none">
              <a:solidFill>
                <a:srgbClr val="FFFFFF"/>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3299119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1130</TotalTime>
  <Words>2484</Words>
  <Application>Microsoft Office PowerPoint</Application>
  <PresentationFormat>Widescreen</PresentationFormat>
  <Paragraphs>520</Paragraphs>
  <Slides>21</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Arial MT</vt:lpstr>
      <vt:lpstr>Arial Narrow</vt:lpstr>
      <vt:lpstr>Calibri</vt:lpstr>
      <vt:lpstr>Libre Franklin</vt:lpstr>
      <vt:lpstr>Microsoft Sans Serif</vt:lpstr>
      <vt:lpstr>Segoe UI Symbol</vt:lpstr>
      <vt:lpstr>Times New Roman</vt:lpstr>
      <vt:lpstr>Verdana</vt:lpstr>
      <vt:lpstr>Office Theme</vt:lpstr>
      <vt:lpstr>PowerPoint Presentation</vt:lpstr>
      <vt:lpstr>Outline</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 REVIEW II TE SEMINAR TEMPLATE 2024 ! (1).ppt</dc:title>
  <dc:creator>HP</dc:creator>
  <cp:lastModifiedBy>Unmesh Patil</cp:lastModifiedBy>
  <cp:revision>35</cp:revision>
  <dcterms:created xsi:type="dcterms:W3CDTF">2025-10-09T05:25:58Z</dcterms:created>
  <dcterms:modified xsi:type="dcterms:W3CDTF">2025-10-14T05:08:44Z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2025-10-09T00:00:00Z</vt:filetime>
  </property>
  <property fmtid="{D5CDD505-2E9C-101B-9397-08002B2CF9AE}" pid="3" name="Creator">
    <vt:lpwstr>Google</vt:lpwstr>
  </property>
  <property fmtid="{D5CDD505-2E9C-101B-9397-08002B2CF9AE}" pid="4" name="LastSaved">
    <vt:filetime>2025-10-09T00:00:00Z</vt:filetime>
  </property>
</Properties>
</file>